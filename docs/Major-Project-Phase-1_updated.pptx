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6" r:id="rId11"/>
    <p:sldId id="267" r:id="rId12"/>
    <p:sldId id="268" r:id="rId13"/>
    <p:sldId id="269" r:id="rId14"/>
    <p:sldId id="271" r:id="rId15"/>
    <p:sldId id="272" r:id="rId16"/>
    <p:sldId id="273" r:id="rId17"/>
    <p:sldId id="275" r:id="rId18"/>
    <p:sldId id="276" r:id="rId19"/>
    <p:sldId id="277" r:id="rId20"/>
    <p:sldId id="279" r:id="rId21"/>
    <p:sldId id="280" r:id="rId22"/>
    <p:sldId id="281" r:id="rId23"/>
    <p:sldId id="283" r:id="rId24"/>
    <p:sldId id="284" r:id="rId25"/>
    <p:sldId id="285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84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B252-A046-8B8C-F4D0-16AFA940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9475A-4A45-75EB-32D0-6370DBD3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5A4FD-4C2A-2089-A152-FD300400E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77949-7C4A-72B0-DD6E-C769B02CF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89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35490"/>
            <a:ext cx="1092525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BMS COLLEGE OF ENGINEERING · CSE (IOT &amp; CYBER SECURITY INCL. BLOCKCHAIN)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7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PROJECT · PHASE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70660"/>
            <a:ext cx="14716125" cy="3841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200" b="1" kern="0" spc="-108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CLI — Autonomous Multi-Agent Framework for Smart Contract Vulnerability Detection &amp; Closed-Loop Remediation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52500" y="6600825"/>
            <a:ext cx="4953000" cy="9525"/>
          </a:xfrm>
          <a:prstGeom prst="rect">
            <a:avLst/>
          </a:prstGeom>
          <a:solidFill>
            <a:srgbClr val="54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6991350"/>
            <a:ext cx="3920989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kern="0" spc="324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GUIDANCE OF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7456170"/>
            <a:ext cx="3920989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Manjunath DR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7844790"/>
            <a:ext cx="3920989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Dept. of CSE — ICB, BMSCE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673686" y="6991350"/>
            <a:ext cx="33934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kern="0" spc="324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73686" y="7456170"/>
            <a:ext cx="33934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 1 · 1BM22ICxxx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73686" y="7844790"/>
            <a:ext cx="33934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 2 · 1BM22ICxxx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73686" y="8233410"/>
            <a:ext cx="33934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 3 · 1BM22ICxxx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73686" y="8622030"/>
            <a:ext cx="33934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 4 · 1BM22ICxxx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82664" y="6991350"/>
            <a:ext cx="277251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kern="0" spc="324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82664" y="7456170"/>
            <a:ext cx="277251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23IC6PWPP1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82664" y="7844790"/>
            <a:ext cx="2772518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6th Semester · AY 2024-25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575292" y="9635490"/>
            <a:ext cx="33170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33432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33500" y="35604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47900" y="3484245"/>
            <a:ext cx="1669018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06000" y="33432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06000" y="35604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20400" y="3484245"/>
            <a:ext cx="268728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33500" y="42576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33500" y="44748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7900" y="4398645"/>
            <a:ext cx="149923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0" y="42576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06000" y="44748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20400" y="4398645"/>
            <a:ext cx="666579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— 30 papers across 6 themes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33500" y="51720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33500" y="53892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47900" y="5313045"/>
            <a:ext cx="410089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Gaps &amp; Positioning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906000" y="51720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6000" y="53892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820400" y="5313045"/>
            <a:ext cx="458959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Design &amp; Architecture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333500" y="60864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33500" y="63036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47900" y="6227445"/>
            <a:ext cx="448437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Sub-systems &amp; Interface Design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906000" y="60864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06000" y="63036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820400" y="6227445"/>
            <a:ext cx="333295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Chart for Phase-1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333500" y="70008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33500" y="72180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247900" y="7141845"/>
            <a:ext cx="158412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906000" y="76866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906000" y="7000875"/>
            <a:ext cx="7429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06000" y="7218045"/>
            <a:ext cx="6858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820400" y="7141845"/>
            <a:ext cx="163496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57200" y="9635490"/>
            <a:ext cx="343560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PROJECT PHASE-1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7528858" y="9635490"/>
            <a:ext cx="37814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 run high-value logic on adversarial infrastructure.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69570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deployed, a contract becomes a permanent, autonomous, money-handling program. There is no patch button — every line is exposed to every attacker, forever.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5124450"/>
            <a:ext cx="8282107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03020" y="5436870"/>
            <a:ext cx="780849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32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HARD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03020" y="5916930"/>
            <a:ext cx="780849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contracts execute exactly as written, with no privileged operator who can pause or roll back faulty transactions.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03020" y="6697980"/>
            <a:ext cx="780849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Reentrancy, integer overflow, access-control errors, oracle manipulation and flash-loan composability all translate directly into stolen funds.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303020" y="7479030"/>
            <a:ext cx="780849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Auditors are scarce, expensive, and slow — yet protocols ship on weekly cycles.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806107" y="5124450"/>
            <a:ext cx="7529393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56627" y="5436870"/>
            <a:ext cx="703320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32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AUTOMATION ALONE FALLS SHORT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56627" y="5916930"/>
            <a:ext cx="703320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analyzers (Slither, Mythril) report symptoms, not fixes, and miss semantic bugs that depend on protocol intent.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156627" y="6697980"/>
            <a:ext cx="703320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Single-LLM scanners hallucinate findings and produce patches that compile but break invariants.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156627" y="7479030"/>
            <a:ext cx="703320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 is a coordinated workflow: detect → exploit → patch → re-verify → loop.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457200" y="9635490"/>
            <a:ext cx="205692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527072" y="9635490"/>
            <a:ext cx="37992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· THE COST OF GETTING IT WRONG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of recurring exploits — same bug classes, larger losses.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164455"/>
            <a:ext cx="523231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0" b="1" kern="0" spc="-162" dirty="0">
                <a:solidFill>
                  <a:srgbClr val="6B3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~$2.9B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952500" y="6326505"/>
            <a:ext cx="523231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TO DEFI EXPLOITS IN 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6749415"/>
            <a:ext cx="47091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"From Transactions to Exploits" (arXiv 2026); flash-loan + oracle composites dominate.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921" y="5164455"/>
            <a:ext cx="523244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0" b="1" kern="0" spc="-162" dirty="0">
                <a:solidFill>
                  <a:srgbClr val="6B3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6603921" y="6326505"/>
            <a:ext cx="5232441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FALSE-POSITIVE RATE OF STATIC TOOLS ON WILD CONTRACTS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3921" y="7058025"/>
            <a:ext cx="470916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SmartBugs empirical study — only 42% of vulns detected by all tools simultaneously.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55460" y="5164455"/>
            <a:ext cx="523244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0" b="1" kern="0" spc="-162" dirty="0">
                <a:solidFill>
                  <a:srgbClr val="6B3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12255460" y="6326505"/>
            <a:ext cx="5232441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8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2024 EXPLOITS USED ORACLE MANIPULATION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55460" y="7058025"/>
            <a:ext cx="47091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Cross-protocol composability is the dominant attack surface — invisible to single-contract tools.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9635490"/>
            <a:ext cx="205692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520524" y="9635490"/>
            <a:ext cx="38647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tooling detects, but does not </a:t>
            </a:r>
            <a:r>
              <a:rPr lang="en-US" sz="4500" b="1" i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209925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369945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38300" y="3385185"/>
            <a:ext cx="30367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Single-tool blind spots.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38300" y="3786664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analyzer (static, symbolic, fuzz, LLM) catches all classes; SmartBugs shows ~27% accuracy for the best individual tool.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3209925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0" y="3369945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10800" y="3385185"/>
            <a:ext cx="265589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False-positive flood.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10800" y="3786664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 of wild contracts flagged; without exploit validation, developers ignore output entirely.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4618672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4778693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38300" y="4793933"/>
            <a:ext cx="39333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Cross-contract composability.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38300" y="5195411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Echidna &amp; ItyFuzz miss CPMM-style multi-call attacks; LLMs alone fail on cross-contract reasoning.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0" y="4618672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25000" y="4778693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10800" y="4793933"/>
            <a:ext cx="325532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 that don't patch.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210800" y="5195411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 Automated Fixes Truly Mitigate?" finds many APR patches are syntactically correct but exploit-triggerable.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9635490"/>
            <a:ext cx="291134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532668" y="9635490"/>
            <a:ext cx="37433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objectives, one closed loop.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152775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312795"/>
            <a:ext cx="533400" cy="1101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38300" y="3312795"/>
            <a:ext cx="7338441" cy="1101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(Triage) </a:t>
            </a: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aggregate Slither + Mythril + Medusa findings; rank, dedupe, score confidence.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0" y="3152775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25000" y="3312795"/>
            <a:ext cx="533400" cy="1101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10800" y="3312795"/>
            <a:ext cx="7338441" cy="1101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(Exploit) </a:t>
            </a: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ReAct-style LLM agent that synthesises executable PoCs and validates triggerability + profitability.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604861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4764881"/>
            <a:ext cx="533400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38300" y="4764881"/>
            <a:ext cx="7338441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(Repair) </a:t>
            </a: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RAG + knowledge-graph guided patch synthesis preserving contract semantics.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0" y="4604861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0" y="4764881"/>
            <a:ext cx="533400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10800" y="4764881"/>
            <a:ext cx="7338441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(Closed Loop) </a:t>
            </a: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re-execute exploits + regression suite; only accept patches that kill the PoC.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5704999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2500" y="5865019"/>
            <a:ext cx="533400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38300" y="5865019"/>
            <a:ext cx="7338441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</a:t>
            </a: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SmartBugs-Curated, SmartBugs-Wild, line-level annotated corpora &amp; recent on-chain exploits.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0" y="5704999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25000" y="5865019"/>
            <a:ext cx="533400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10800" y="5865019"/>
            <a:ext cx="7338441" cy="749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surface </a:t>
            </a: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CLI, CI hook, web dashboard with full agent reasoning trace and one-click patch acceptance.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57200" y="9635490"/>
            <a:ext cx="166913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526477" y="9635490"/>
            <a:ext cx="38052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624971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7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902393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5823704"/>
            <a:ext cx="2667000" cy="9525"/>
          </a:xfrm>
          <a:prstGeom prst="rect">
            <a:avLst/>
          </a:prstGeom>
          <a:solidFill>
            <a:srgbClr val="54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6385679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D8CF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papers (2019–2026) across six themes: threat landscape, static/symbolic analysis, dynamic fuzzing, exploit generation, automated repair, and multi-agent LLM systems.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9635490"/>
            <a:ext cx="231862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OPENER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43384" y="9635490"/>
            <a:ext cx="36361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1 OF 6 · 5 PAPERS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Principles &amp; Threat Landscape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095625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Establishing the vulnerability taxonomy, real-world DeFi attack data, and why automated repair validation is the unsolved problem.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8727757"/>
            <a:ext cx="16383000" cy="511493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8727757"/>
            <a:ext cx="22860" cy="511493"/>
          </a:xfrm>
          <a:prstGeom prst="rect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5860" y="8842057"/>
            <a:ext cx="1647063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</a:t>
            </a:r>
            <a:r>
              <a:rPr lang="en-US" sz="1650" dirty="0">
                <a:solidFill>
                  <a:srgbClr val="1A1A1A"/>
                </a:solidFill>
                <a:highlight>
                  <a:srgbClr val="E7E2D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 – 5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9635490"/>
            <a:ext cx="410162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· THEME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526834" y="9635490"/>
            <a:ext cx="38016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63638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1 · FIRST PRINCIPLES &amp; THREAT LANDSCAPE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319892" y="857250"/>
            <a:ext cx="20918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01–02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26477" y="9635490"/>
            <a:ext cx="38052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800" dirty="0"/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5AD2E963-062E-F160-95A7-E1624526E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852379"/>
              </p:ext>
            </p:extLst>
          </p:nvPr>
        </p:nvGraphicFramePr>
        <p:xfrm>
          <a:off x="12895116" y="1772225"/>
          <a:ext cx="4572000" cy="779018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2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763157">
                <a:tc>
                  <a:txBody>
                    <a:bodyPr/>
                    <a:lstStyle/>
                    <a:p>
                      <a:r>
                        <a:rPr lang="en-IN" dirty="0"/>
                        <a:t>Literature comparison, Accuracy, Precision, Recall,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Comprehensive taxonomy of vulnerabilities and detection techniques; covers ML/DL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unified benchmark dataset; scalability and real-world deployment challenges remain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Accuracy, Precision, Recall, F1-Score, Multi-label Classification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Demonstrates superiority of fine-tuned LLMs over traditional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Heavy dependence on high-quality </a:t>
                      </a:r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datasets; limited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Risk Analysis, Impact Assessment, Comparative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case studies and quantified risk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Focused only on lending protocols; limited automated detection mechanisms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7670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D933460C-DB3A-E27D-01F9-164B58537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850244"/>
              </p:ext>
            </p:extLst>
          </p:nvPr>
        </p:nvGraphicFramePr>
        <p:xfrm>
          <a:off x="703118" y="1772226"/>
          <a:ext cx="12191998" cy="779018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90896">
                <a:tc>
                  <a:txBody>
                    <a:bodyPr/>
                    <a:lstStyle/>
                    <a:p>
                      <a:r>
                        <a:rPr lang="en-IN" dirty="0"/>
                        <a:t>Vulnerability Detection in Smart Contracts: A Comprehensive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Ethereum/EVM datasets surveyed from prior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Access Control, Timestamp Dependency, Denial of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/ EVM-Compatible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Survey of Rule-Based, ML, DL, and Hybrid Detection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1568116">
                <a:tc>
                  <a:txBody>
                    <a:bodyPr/>
                    <a:lstStyle/>
                    <a:p>
                      <a:r>
                        <a:rPr lang="en-IN" dirty="0"/>
                        <a:t>Leveraging Large Language Models and Machine Learning for 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AI-Based Smart Contract Security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vulnerability datasets containing Solidity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Timestamp Dependency, </a:t>
                      </a:r>
                      <a:r>
                        <a:rPr lang="en-IN" dirty="0" err="1"/>
                        <a:t>Delegatecall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DistilBERT</a:t>
                      </a:r>
                      <a:r>
                        <a:rPr lang="en-IN" dirty="0"/>
                        <a:t>-based LLMs, Classical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in DeFi: Assessing Security Risk in Blockchain-Based Lending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(Global Journal of Engineering and Technology Advances)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Security 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DeFi Platforms (</a:t>
                      </a:r>
                      <a:r>
                        <a:rPr lang="en-IN" dirty="0" err="1"/>
                        <a:t>Aave</a:t>
                      </a:r>
                      <a:r>
                        <a:rPr lang="en-IN" dirty="0"/>
                        <a:t>, Compound, </a:t>
                      </a:r>
                      <a:r>
                        <a:rPr lang="en-IN" dirty="0" err="1"/>
                        <a:t>MakerDAO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Oracle Manipulation, Flash Loan Attacks, Governance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Lending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Taxonomy and Security Assessment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34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BF223-1483-E1CB-19A9-D072F5D6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7537E7-6B79-0232-8931-44C523C0DCAB}"/>
              </a:ext>
            </a:extLst>
          </p:cNvPr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09A89A-6CCC-9382-7C5F-8BB986586CD6}"/>
              </a:ext>
            </a:extLst>
          </p:cNvPr>
          <p:cNvSpPr/>
          <p:nvPr/>
        </p:nvSpPr>
        <p:spPr>
          <a:xfrm>
            <a:off x="952500" y="857250"/>
            <a:ext cx="63638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1 · FIRST PRINCIPLES &amp; THREAT LANDSCAPE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144021-A8CD-B35A-16FF-DC2DE469C01C}"/>
              </a:ext>
            </a:extLst>
          </p:cNvPr>
          <p:cNvSpPr/>
          <p:nvPr/>
        </p:nvSpPr>
        <p:spPr>
          <a:xfrm>
            <a:off x="15319892" y="857250"/>
            <a:ext cx="20918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01–02 of 30</a:t>
            </a:r>
            <a:endParaRPr lang="en-US" sz="150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243D0E2E-2356-1ECE-1DB5-38F2F4A84EBA}"/>
              </a:ext>
            </a:extLst>
          </p:cNvPr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95B43228-CAD3-9F53-45F8-26B58C939E31}"/>
              </a:ext>
            </a:extLst>
          </p:cNvPr>
          <p:cNvSpPr/>
          <p:nvPr/>
        </p:nvSpPr>
        <p:spPr>
          <a:xfrm>
            <a:off x="17526477" y="9635490"/>
            <a:ext cx="38052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10</a:t>
            </a: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72C35883-ABB8-8975-654D-4AD914C3B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14067"/>
              </p:ext>
            </p:extLst>
          </p:nvPr>
        </p:nvGraphicFramePr>
        <p:xfrm>
          <a:off x="12895115" y="1772225"/>
          <a:ext cx="5011884" cy="550418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70628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2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r>
                        <a:rPr lang="en-IN" dirty="0"/>
                        <a:t>Cost-Benefit Analysis, Exploit Statistics, Case Study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Detailed attack-chain analysis; explains real exploit mechanisms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Primarily analytical; lacks automated </a:t>
                      </a:r>
                      <a:r>
                        <a:rPr lang="en-IN" dirty="0" err="1"/>
                        <a:t>defense</a:t>
                      </a:r>
                      <a:r>
                        <a:rPr lang="en-IN" dirty="0"/>
                        <a:t>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Patch Correctness, Exploit Validation, Repair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Large-scale comparison of repair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Many generated patches are syntactically correct but semantically incorrect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C4A4A12F-B7C3-ACED-686A-0CF68B449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41747"/>
              </p:ext>
            </p:extLst>
          </p:nvPr>
        </p:nvGraphicFramePr>
        <p:xfrm>
          <a:off x="703118" y="1772226"/>
          <a:ext cx="12191998" cy="550141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42311">
                <a:tc>
                  <a:txBody>
                    <a:bodyPr/>
                    <a:lstStyle/>
                    <a:p>
                      <a:r>
                        <a:rPr lang="en-IN" dirty="0"/>
                        <a:t>Flash Loan Attacks: Comprehensive Technical Analysis of DeFi's Most Devastating Exploit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Exploit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Flash Loan Exploit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Flash Loans, Oracle Manipulation, </a:t>
                      </a:r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Multi-Step Exploits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Protocol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Technical Attack Lifecycle Analysis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013805">
                <a:tc>
                  <a:txBody>
                    <a:bodyPr/>
                    <a:lstStyle/>
                    <a:p>
                      <a:r>
                        <a:rPr lang="en-IN" dirty="0"/>
                        <a:t>Do Automated Fixes Truly Mitigate Smart Contract Exploits?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 / IEEE TSE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Automated Program Repair (APR)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Vulnerable Smart Contracts repaired by 19 APR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Access Control Issues, Arithmetic 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APR Tools (</a:t>
                      </a:r>
                      <a:r>
                        <a:rPr lang="en-IN" dirty="0" err="1"/>
                        <a:t>SCRepair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SmartFix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DeFinery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sGuard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Aroc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90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2 OF 6 · 5 PAPERS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&amp; Symbolic Analysis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095625"/>
            <a:ext cx="14716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detection substrate the Scout agent must aggregate over — Slither, Mythril, Vandal, eThor, MPro.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8727757"/>
            <a:ext cx="16383000" cy="511493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8727757"/>
            <a:ext cx="22860" cy="511493"/>
          </a:xfrm>
          <a:prstGeom prst="rect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5860" y="8842057"/>
            <a:ext cx="1647063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</a:t>
            </a:r>
            <a:r>
              <a:rPr lang="en-US" sz="1650" dirty="0">
                <a:solidFill>
                  <a:srgbClr val="1A1A1A"/>
                </a:solidFill>
                <a:highlight>
                  <a:srgbClr val="E7E2D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6 – 10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9635490"/>
            <a:ext cx="414945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· THEME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580055" y="9635490"/>
            <a:ext cx="32694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51080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2 · STATIC &amp; SYMBOLIC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291317" y="857250"/>
            <a:ext cx="21203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06–07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78269" y="9635490"/>
            <a:ext cx="32873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8932297D-80CC-B4F9-B0DA-9B2F42D52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132203"/>
              </p:ext>
            </p:extLst>
          </p:nvPr>
        </p:nvGraphicFramePr>
        <p:xfrm>
          <a:off x="12895116" y="1772225"/>
          <a:ext cx="4572000" cy="779018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2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763157">
                <a:tc>
                  <a:txBody>
                    <a:bodyPr/>
                    <a:lstStyle/>
                    <a:p>
                      <a:r>
                        <a:rPr lang="en-IN" dirty="0"/>
                        <a:t>Literature comparison, Accuracy, Precision, Recall,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Comprehensive taxonomy of vulnerabilities and detection techniques; covers ML/DL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unified benchmark dataset; scalability and real-world deployment challenges remain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Accuracy, Precision, Recall, F1-Score, Multi-label Classification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Demonstrates superiority of fine-tuned LLMs over traditional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Heavy dependence on high-quality </a:t>
                      </a:r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datasets; limited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Risk Analysis, Impact Assessment, Comparative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case studies and quantified risk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Focused only on lending protocols; limited automated detection mechanisms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7670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F8F770F4-14EF-4D17-3699-9EE32E826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324968"/>
              </p:ext>
            </p:extLst>
          </p:nvPr>
        </p:nvGraphicFramePr>
        <p:xfrm>
          <a:off x="703118" y="1772226"/>
          <a:ext cx="12191998" cy="779018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90896">
                <a:tc>
                  <a:txBody>
                    <a:bodyPr/>
                    <a:lstStyle/>
                    <a:p>
                      <a:r>
                        <a:rPr lang="en-IN" dirty="0"/>
                        <a:t>Vulnerability Detection in Smart Contracts: A Comprehensive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Ethereum/EVM datasets surveyed from prior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Access Control, Timestamp Dependency, Denial of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/ EVM-Compatible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Survey of Rule-Based, ML, DL, and Hybrid Detection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1568116">
                <a:tc>
                  <a:txBody>
                    <a:bodyPr/>
                    <a:lstStyle/>
                    <a:p>
                      <a:r>
                        <a:rPr lang="en-IN" dirty="0"/>
                        <a:t>Leveraging Large Language Models and Machine Learning for 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AI-Based Smart Contract Security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vulnerability datasets containing Solidity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Timestamp Dependency, </a:t>
                      </a:r>
                      <a:r>
                        <a:rPr lang="en-IN" dirty="0" err="1"/>
                        <a:t>Delegatecall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DistilBERT</a:t>
                      </a:r>
                      <a:r>
                        <a:rPr lang="en-IN" dirty="0"/>
                        <a:t>-based LLMs, Classical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in DeFi: Assessing Security Risk in Blockchain-Based Lending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(Global Journal of Engineering and Technology Advances)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Security 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DeFi Platforms (</a:t>
                      </a:r>
                      <a:r>
                        <a:rPr lang="en-IN" dirty="0" err="1"/>
                        <a:t>Aave</a:t>
                      </a:r>
                      <a:r>
                        <a:rPr lang="en-IN" dirty="0"/>
                        <a:t>, Compound, </a:t>
                      </a:r>
                      <a:r>
                        <a:rPr lang="en-IN" dirty="0" err="1"/>
                        <a:t>MakerDAO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Oracle Manipulation, Flash Loan Attacks, Governance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Lending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Taxonomy and Security Assessment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34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51080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2 · STATIC &amp; SYMBOLIC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277624" y="857250"/>
            <a:ext cx="21340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08–09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71839" y="9635490"/>
            <a:ext cx="33516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06A021B4-2B58-C15E-77BF-021AF4EBE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30474"/>
              </p:ext>
            </p:extLst>
          </p:nvPr>
        </p:nvGraphicFramePr>
        <p:xfrm>
          <a:off x="12895115" y="1772225"/>
          <a:ext cx="5011884" cy="550418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70628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2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r>
                        <a:rPr lang="en-IN" dirty="0"/>
                        <a:t>Cost-Benefit Analysis, Exploit Statistics, Case Study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Detailed attack-chain analysis; explains real exploit mechanisms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Primarily analytical; lacks automated </a:t>
                      </a:r>
                      <a:r>
                        <a:rPr lang="en-IN" dirty="0" err="1"/>
                        <a:t>defense</a:t>
                      </a:r>
                      <a:r>
                        <a:rPr lang="en-IN" dirty="0"/>
                        <a:t>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Patch Correctness, Exploit Validation, Repair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Large-scale comparison of repair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Many generated patches are syntactically correct but semantically incorrect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C4D1F5DF-C53C-4940-006B-5664440AE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28138"/>
              </p:ext>
            </p:extLst>
          </p:nvPr>
        </p:nvGraphicFramePr>
        <p:xfrm>
          <a:off x="703118" y="1772226"/>
          <a:ext cx="12191998" cy="550141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42311">
                <a:tc>
                  <a:txBody>
                    <a:bodyPr/>
                    <a:lstStyle/>
                    <a:p>
                      <a:r>
                        <a:rPr lang="en-IN" dirty="0"/>
                        <a:t>Flash Loan Attacks: Comprehensive Technical Analysis of DeFi's Most Devastating Exploit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Exploit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Flash Loan Exploit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Flash Loans, Oracle Manipulation, </a:t>
                      </a:r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Multi-Step Exploits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Protocol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Technical Attack Lifecycle Analysis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013805">
                <a:tc>
                  <a:txBody>
                    <a:bodyPr/>
                    <a:lstStyle/>
                    <a:p>
                      <a:r>
                        <a:rPr lang="en-IN" dirty="0"/>
                        <a:t>Do Automated Fixes Truly Mitigate Smart Contract Exploits?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 / IEEE TSE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Automated Program Repair (APR)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Vulnerable Smart Contracts repaired by 19 APR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Access Control Issues, Arithmetic 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APR Tools (</a:t>
                      </a:r>
                      <a:r>
                        <a:rPr lang="en-IN" dirty="0" err="1"/>
                        <a:t>SCRepair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SmartFix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DeFinery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sGuard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Aroc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3 OF 6 · 5 PAPERS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Analysis &amp; Fuzzing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095625"/>
            <a:ext cx="14716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fuzzers, taint trackers, and the practitioner pain points that drive our design.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8727757"/>
            <a:ext cx="16383000" cy="511493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8727757"/>
            <a:ext cx="22860" cy="511493"/>
          </a:xfrm>
          <a:prstGeom prst="rect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5860" y="8842057"/>
            <a:ext cx="1647063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</a:t>
            </a:r>
            <a:r>
              <a:rPr lang="en-US" sz="1650" dirty="0">
                <a:solidFill>
                  <a:srgbClr val="1A1A1A"/>
                </a:solidFill>
                <a:highlight>
                  <a:srgbClr val="E7E2D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11 – 15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9635490"/>
            <a:ext cx="415129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· THEME 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577674" y="9635490"/>
            <a:ext cx="32932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51918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3 · DYNAMIC ANALYSIS &amp; FUZZING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405259" y="857250"/>
            <a:ext cx="20064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11–12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90055" y="9635490"/>
            <a:ext cx="3169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022B1BF4-E417-E4A5-564E-ADB8C5AD9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04118"/>
              </p:ext>
            </p:extLst>
          </p:nvPr>
        </p:nvGraphicFramePr>
        <p:xfrm>
          <a:off x="12895116" y="1772225"/>
          <a:ext cx="4572000" cy="632224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Coverage, Invariant Success Rate, Gas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Stateful fuzzing with ABI-aware corpus; counterexample minimization; gas checks alongside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Manual invariant specification burden; limited multi-step attack sequence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Empirical: GitHub issue taxonomy, survey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Validates real-world fuzzing adoption barriers using 381 practitioner-reported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Descriptive only; does not provide automated fixes for identified pain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37E0DBB8-8E11-5405-FAB9-CF6121ACE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92925"/>
              </p:ext>
            </p:extLst>
          </p:nvPr>
        </p:nvGraphicFramePr>
        <p:xfrm>
          <a:off x="703118" y="1772226"/>
          <a:ext cx="12191998" cy="680160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Echidna: Effective, Usable, and Fast Fuzzing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2020 (ACM ISSTA; updated 2024-25)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Dynamic Smart Contract Fuzzing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ABI definitions, contract constants, custom seed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Reentrancy, Integer Overflow, Access Control, Invariant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EVM-Compatible Smart Contracts (Solidity)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Property-Based Stateful Fuzzer with ABI-Aware Random Transaction Generator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Human Side of Smart Contract Fuzzing: An Empirical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(arXiv:2506.07389)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Practitioner Challenges in Smart Contract Fuzzing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381 GitHub Issues from Echidna and Foundry repositories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Emulation Failures, Documentation Gaps, Process Automation Deficiencies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 (Echidna and Foundry targets)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Thematic Coding + Grounded Theory (Qualitative Empirical Analysis)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51918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3 · DYNAMIC ANALYSIS &amp; FUZZING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358229" y="857250"/>
            <a:ext cx="20534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13–14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78031" y="9635490"/>
            <a:ext cx="3289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088DD3AB-A912-20D7-CAED-4A36E3804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30474"/>
              </p:ext>
            </p:extLst>
          </p:nvPr>
        </p:nvGraphicFramePr>
        <p:xfrm>
          <a:off x="12895115" y="1772225"/>
          <a:ext cx="5011884" cy="577360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70628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Branch Coverage, Vulnerability Detection Rate, State-Space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Invocation ordering + branch revisiting address state-space explosion in stateful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Effective only within single-contract scope; cross-contract composability not handled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Throughput (execs/sec), Coverage, Detected Vulnerability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Hardware-scalable parallel fuzzing + Slither-informed mutation; Go-based for 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Parallelization gains are hardware-dependent; LLM-assisted seed generation not yet integrated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5E3D8A0D-387D-CC6C-7437-04A725056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28138"/>
              </p:ext>
            </p:extLst>
          </p:nvPr>
        </p:nvGraphicFramePr>
        <p:xfrm>
          <a:off x="703118" y="1772226"/>
          <a:ext cx="12191998" cy="680160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Rethinking Smart Contract Fuzzing: Invocation Ordering and Important Branch Revisiting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 (arXiv:2301.03943; updated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Optimised Smart Contract Fuzzing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Open-source Ethereum smart contracts with complex stateful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Reentrancy, Access Control Bypass, Integer Overflow (stateful multi-call scenarios)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EVM 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Coverage-Guided Fuzzer with Invocation Ordering and Branch Prioritization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Unleashing Medusa: Fast and Scalable Smart Contract Fuzzing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(Trail of Bits blog; production tool)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High-Performance Smart Contract Fuzzing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EVM contracts; integrates Slither static analysis for seed mutation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Reentrancy, Access Control, Flash Loan Logic, Invariant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EVM-Compatible Contracts (Geth-based execution)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Coverage-Guided Parallel Fuzzer with Slither-Enhanced Smart Mutation (Go)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4 OF 6 · 5 PAPERS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Generation &amp; Adversarial Testing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095625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prior art to the Red Team — agentic PoC synthesis, profitability validation, and cross-contract attack chains.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8727757"/>
            <a:ext cx="16383000" cy="511493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8727757"/>
            <a:ext cx="22860" cy="511493"/>
          </a:xfrm>
          <a:prstGeom prst="rect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5860" y="8842057"/>
            <a:ext cx="1647063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</a:t>
            </a:r>
            <a:r>
              <a:rPr lang="en-US" sz="1650" dirty="0">
                <a:solidFill>
                  <a:srgbClr val="1A1A1A"/>
                </a:solidFill>
                <a:highlight>
                  <a:srgbClr val="E7E2D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16 – 20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9635490"/>
            <a:ext cx="41580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· THEME 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528858" y="9635490"/>
            <a:ext cx="37814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71952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4 · EXPLOIT GENERATION &amp; ADVERSARIAL TESTING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372993" y="857250"/>
            <a:ext cx="20387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16–17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80055" y="9635490"/>
            <a:ext cx="32694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18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DBDF5F5A-0ECA-B886-6293-26F1EC4F0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04118"/>
              </p:ext>
            </p:extLst>
          </p:nvPr>
        </p:nvGraphicFramePr>
        <p:xfrm>
          <a:off x="12895116" y="1772225"/>
          <a:ext cx="4572000" cy="632224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PoC Success Rate, Triggering Rate, SmartBugs Benchmark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First agentic ReAct-loop system for PoC synthesis; integrates Foundry for self-correcting exploit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Single-contract exploits only; no cross-contract or patch synthesis; no closed-loop remediation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Exploit Generation Rate, Cross-Contract Success Rate, Benchmarked vs SmartBugs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Comprehensive LLM evaluation (11 models); CoT + ICL prompting; strong single-contract PoC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LLMs alone fail on cross-contract attacks; tool-augmented orchestration needed for composability exploits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F67F3419-4096-5AE1-0E89-B49947089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92925"/>
              </p:ext>
            </p:extLst>
          </p:nvPr>
        </p:nvGraphicFramePr>
        <p:xfrm>
          <a:off x="703118" y="1772226"/>
          <a:ext cx="12191998" cy="680160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PoCo: Agentic Proof-of-Concept Exploit Generation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2025-26 (arXiv:2511.02780)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Automated PoC Exploit Synthesis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SmartBugs Benchmark Dataset (curated vulnerable contracts)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Reentrancy, Integer Overflow, Access Control, Timestamp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EVM Ethereum Smart Contracts (Solidity)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ReAct-Style LLM Agent with Foundry/Forge Exploit Validator and Self-Correction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Prompt to Pwn: Automated Exploit Generation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(arXiv:2508.01371)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LLM-Based Smart Contract Exploit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SmartBugs Curated Benchmark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Reentrancy, Access Control, Integer Overflow, Cross-Contract Composability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 LLMs (GPT-4, Claude, etc.) with In-Context Learning and Chain-of-Thought Prompting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71952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4 · EXPLOIT GENERATION &amp; ADVERSARIAL TESTING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362991" y="857250"/>
            <a:ext cx="20487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18–19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33620" y="9635490"/>
            <a:ext cx="37338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19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9DE66B60-9565-BF7F-106C-B45CCB3AB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30474"/>
              </p:ext>
            </p:extLst>
          </p:nvPr>
        </p:nvGraphicFramePr>
        <p:xfrm>
          <a:off x="12895115" y="1772225"/>
          <a:ext cx="5011884" cy="604792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70628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Exploit Synthesis Success Rate, On-Chain Replay Accuracy, Protocol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Synthesises PoCs from real on-chain transactions; handles flash loans + oracle + composable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existing on-chain traces; novel zero-day vectors without prior footprint cannot be synthesised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906000">
                <a:tc>
                  <a:txBody>
                    <a:bodyPr/>
                    <a:lstStyle/>
                    <a:p>
                      <a:r>
                        <a:rPr lang="en-IN" dirty="0"/>
                        <a:t>Triggerability Rate, Profitability Score, Feedback-Loop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Distinguishes truly exploitable vulns from theoretical ones via trigger + profit dual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Profit model limited to token-extractable attacks; logic-level bugs (access control, griefing) not fully covered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E8803682-A99D-241D-875D-1F1B6FE04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28138"/>
              </p:ext>
            </p:extLst>
          </p:nvPr>
        </p:nvGraphicFramePr>
        <p:xfrm>
          <a:off x="703118" y="1772226"/>
          <a:ext cx="12191998" cy="680160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From Transactions to Exploits: Automated PoC Synthesis for Real-World DeFi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2026 (arXiv:2601.16681)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Attack PoC Synthesis from On-Chain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DeFi hacks (~$2.9B losses); real on-chain transaction 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Flash Loans, Oracle Manipulation, Multi-Protocol Composability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Protocol Smart Contracts (Uniswap, Aave, Curve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Transaction-Trace Reconstruction Engine with EVM Fork State Replay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800000">
                <a:tc>
                  <a:txBody>
                    <a:bodyPr/>
                    <a:lstStyle/>
                    <a:p>
                      <a:r>
                        <a:rPr lang="en-IN" dirty="0"/>
                        <a:t>V2E: Validating Smart Contract Vulnerabilities through Profit-Driven Exploit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(arXiv:2604.13611)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Exploit Validation Framework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Vulnerable Solidity contracts with known vulnerability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Reentrancy, Access Control, Integer Overflow, Economic Logic Flaws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DeFi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Feedback-Driven PoC Synthesis with Triggerability and Profitability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5 OF 6 · 5 PAPERS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Repair &amp; Patch Synthesis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095625"/>
            <a:ext cx="14716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for the Blue Team — RAG, knowledge graphs, generate-and-verify, and the systematic taxonomy.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8727757"/>
            <a:ext cx="16383000" cy="511493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8727757"/>
            <a:ext cx="22860" cy="511493"/>
          </a:xfrm>
          <a:prstGeom prst="rect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5860" y="8842057"/>
            <a:ext cx="1647063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</a:t>
            </a:r>
            <a:r>
              <a:rPr lang="en-US" sz="1650" dirty="0">
                <a:solidFill>
                  <a:srgbClr val="1A1A1A"/>
                </a:solidFill>
                <a:highlight>
                  <a:srgbClr val="E7E2D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21 – 25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9635490"/>
            <a:ext cx="414565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· THEME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528977" y="9635490"/>
            <a:ext cx="37802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63939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5 · AUTOMATED REPAIR &amp; PATCH SYNTHESIS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327868" y="857250"/>
            <a:ext cx="20838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21–22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37431" y="9635490"/>
            <a:ext cx="3695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7CDF3707-F5F5-468C-768E-191FC5C8D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306742"/>
              </p:ext>
            </p:extLst>
          </p:nvPr>
        </p:nvGraphicFramePr>
        <p:xfrm>
          <a:off x="12895115" y="1772224"/>
          <a:ext cx="5011884" cy="5781274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70628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3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2563091">
                <a:tc>
                  <a:txBody>
                    <a:bodyPr/>
                    <a:lstStyle/>
                    <a:p>
                      <a:r>
                        <a:rPr lang="en-IN" dirty="0"/>
                        <a:t>Patch Generation Quality, Repair Accuracy, Semantic Dependency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structured knowledge retrieval and dependency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Complexity of KG construction; scalability concerns for large ecosystems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420783">
                <a:tc>
                  <a:txBody>
                    <a:bodyPr/>
                    <a:lstStyle/>
                    <a:p>
                      <a:r>
                        <a:rPr lang="en-IN" dirty="0"/>
                        <a:t>Automated Testing, Repair Success Rate, Patch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Practical repair workflow; integration with Foundry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Dependent on LLM quality; potential semantic correctness issues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4ABCB4E7-928D-6C51-BEB8-84676EAEB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309369"/>
              </p:ext>
            </p:extLst>
          </p:nvPr>
        </p:nvGraphicFramePr>
        <p:xfrm>
          <a:off x="703118" y="1772226"/>
          <a:ext cx="12191998" cy="577360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42311">
                <a:tc>
                  <a:txBody>
                    <a:bodyPr/>
                    <a:lstStyle/>
                    <a:p>
                      <a:r>
                        <a:rPr lang="en-IN" dirty="0" err="1"/>
                        <a:t>SCPatcher</a:t>
                      </a:r>
                      <a:r>
                        <a:rPr lang="en-IN" dirty="0"/>
                        <a:t>: Automated Smart Contract Code Repair via Retrieval-Augmented Generation and Knowledge Graph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Automated Smart Contract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Vulnerable Solidity Contracts with Knowledge Graph 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Access Control, Dependency-Related 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Solidity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RAG + Neo4j Knowledge Graph + </a:t>
                      </a:r>
                      <a:r>
                        <a:rPr lang="en-IN" dirty="0" err="1"/>
                        <a:t>CodeBERT</a:t>
                      </a:r>
                      <a:r>
                        <a:rPr lang="en-IN" dirty="0"/>
                        <a:t> +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1568116">
                <a:tc>
                  <a:txBody>
                    <a:bodyPr/>
                    <a:lstStyle/>
                    <a:p>
                      <a:r>
                        <a:rPr lang="en-IN" dirty="0" err="1"/>
                        <a:t>ContractTinker</a:t>
                      </a:r>
                      <a:r>
                        <a:rPr lang="en-IN" dirty="0"/>
                        <a:t>: LLM-Empowered Vulnerability Repair for Real-World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(ASE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LLM-Based Vulnerability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Vulnerable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Access Control, Integer 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Large Language Models integrated with Foundry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63939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5 · AUTOMATED REPAIR &amp; PATCH SYNTHESIS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283815" y="857250"/>
            <a:ext cx="21278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23–24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31239" y="9635490"/>
            <a:ext cx="37576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585291CE-F790-91E3-B97F-6297CDB4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04118"/>
              </p:ext>
            </p:extLst>
          </p:nvPr>
        </p:nvGraphicFramePr>
        <p:xfrm>
          <a:off x="12895116" y="1772225"/>
          <a:ext cx="4572000" cy="779018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2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763157">
                <a:tc>
                  <a:txBody>
                    <a:bodyPr/>
                    <a:lstStyle/>
                    <a:p>
                      <a:r>
                        <a:rPr lang="en-IN" dirty="0"/>
                        <a:t>Literature comparison, Accuracy, Precision, Recall,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Comprehensive taxonomy of vulnerabilities and detection techniques; covers ML/DL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unified benchmark dataset; scalability and real-world deployment challenges remain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Accuracy, Precision, Recall, F1-Score, Multi-label Classification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Demonstrates superiority of fine-tuned LLMs over traditional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Heavy dependence on high-quality </a:t>
                      </a:r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datasets; limited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Risk Analysis, Impact Assessment, Comparative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case studies and quantified risk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Focused only on lending protocols; limited automated detection mechanisms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7670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A05FD141-6CFD-2AF0-739C-23257437C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92925"/>
              </p:ext>
            </p:extLst>
          </p:nvPr>
        </p:nvGraphicFramePr>
        <p:xfrm>
          <a:off x="703118" y="1772226"/>
          <a:ext cx="12191998" cy="779018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90896">
                <a:tc>
                  <a:txBody>
                    <a:bodyPr/>
                    <a:lstStyle/>
                    <a:p>
                      <a:r>
                        <a:rPr lang="en-IN" dirty="0"/>
                        <a:t>Vulnerability Detection in Smart Contracts: A Comprehensive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Ethereum/EVM datasets surveyed from prior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Access Control, Timestamp Dependency, Denial of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/ EVM-Compatible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Survey of Rule-Based, ML, DL, and Hybrid Detection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1568116">
                <a:tc>
                  <a:txBody>
                    <a:bodyPr/>
                    <a:lstStyle/>
                    <a:p>
                      <a:r>
                        <a:rPr lang="en-IN" dirty="0"/>
                        <a:t>Leveraging Large Language Models and Machine Learning for 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AI-Based Smart Contract Security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vulnerability datasets containing Solidity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Timestamp Dependency, </a:t>
                      </a:r>
                      <a:r>
                        <a:rPr lang="en-IN" dirty="0" err="1"/>
                        <a:t>Delegatecall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DistilBERT</a:t>
                      </a:r>
                      <a:r>
                        <a:rPr lang="en-IN" dirty="0"/>
                        <a:t>-based LLMs, Classical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in DeFi: Assessing Security Risk in Blockchain-Based Lending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(Global Journal of Engineering and Technology Advances)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Security 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DeFi Platforms (</a:t>
                      </a:r>
                      <a:r>
                        <a:rPr lang="en-IN" dirty="0" err="1"/>
                        <a:t>Aave</a:t>
                      </a:r>
                      <a:r>
                        <a:rPr lang="en-IN" dirty="0"/>
                        <a:t>, Compound, </a:t>
                      </a:r>
                      <a:r>
                        <a:rPr lang="en-IN" dirty="0" err="1"/>
                        <a:t>MakerDAO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Oracle Manipulation, Flash Loan Attacks, Governance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Lending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Taxonomy and Security Assessment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34436"/>
                  </a:ext>
                </a:extLst>
              </a:tr>
            </a:tbl>
          </a:graphicData>
        </a:graphic>
      </p:graphicFrame>
      <p:sp>
        <p:nvSpPr>
          <p:cNvPr id="5" name="Shape 0">
            <a:extLst>
              <a:ext uri="{FF2B5EF4-FFF2-40B4-BE49-F238E27FC236}">
                <a16:creationId xmlns:a16="http://schemas.microsoft.com/office/drawing/2014/main" id="{2B21186E-9175-E2DD-A65A-BB51274F25C7}"/>
              </a:ext>
            </a:extLst>
          </p:cNvPr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521E01D-435C-669F-075E-B0911AB309A6}"/>
              </a:ext>
            </a:extLst>
          </p:cNvPr>
          <p:cNvSpPr/>
          <p:nvPr/>
        </p:nvSpPr>
        <p:spPr>
          <a:xfrm>
            <a:off x="952500" y="857250"/>
            <a:ext cx="63939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5 · AUTOMATED REPAIR &amp; PATCH SYNTHESIS</a:t>
            </a:r>
            <a:endParaRPr lang="en-US" sz="1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450FCAA-467D-633B-419F-0EC0E9226C99}"/>
              </a:ext>
            </a:extLst>
          </p:cNvPr>
          <p:cNvSpPr/>
          <p:nvPr/>
        </p:nvSpPr>
        <p:spPr>
          <a:xfrm>
            <a:off x="15283815" y="857250"/>
            <a:ext cx="21278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23–24 of 30</a:t>
            </a:r>
            <a:endParaRPr lang="en-US" sz="1500" dirty="0"/>
          </a:p>
        </p:txBody>
      </p:sp>
      <p:sp>
        <p:nvSpPr>
          <p:cNvPr id="8" name="Text 68">
            <a:extLst>
              <a:ext uri="{FF2B5EF4-FFF2-40B4-BE49-F238E27FC236}">
                <a16:creationId xmlns:a16="http://schemas.microsoft.com/office/drawing/2014/main" id="{284F0E04-EEC8-452A-5FB9-362261A2E8F5}"/>
              </a:ext>
            </a:extLst>
          </p:cNvPr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9" name="Text 69">
            <a:extLst>
              <a:ext uri="{FF2B5EF4-FFF2-40B4-BE49-F238E27FC236}">
                <a16:creationId xmlns:a16="http://schemas.microsoft.com/office/drawing/2014/main" id="{CA336B4C-641C-D1B8-8AF3-2460675556C4}"/>
              </a:ext>
            </a:extLst>
          </p:cNvPr>
          <p:cNvSpPr/>
          <p:nvPr/>
        </p:nvSpPr>
        <p:spPr>
          <a:xfrm>
            <a:off x="17531239" y="9635490"/>
            <a:ext cx="37576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9BA892-F286-0B42-B7CB-0EB11383A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11220"/>
              </p:ext>
            </p:extLst>
          </p:nvPr>
        </p:nvGraphicFramePr>
        <p:xfrm>
          <a:off x="12895116" y="1667446"/>
          <a:ext cx="4572000" cy="8098229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82905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2543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Patch Search Space Reduction, Correctness Verification, Speedup Metrics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Effective search space pruning; statistical prioritization improves efficiency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Formal verification not always scalable; patch diversity limited by mutations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2032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Comparative Analysis, Scalability Discussion, Approach Taxonomy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Foundational repair taxonomy; establishes semantic repair as gold standard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Scalability challenges remain; practical deployment limited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  <a:tr h="2240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SLR Synthesis, Taxonomy by Vulnerability Type, Testing Emphasis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Current landscape overview; identifies LLM-based repair as recent (2024) trend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LLM-based repair still maturing; limited empirical comparison data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28222676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16CFE7-E53A-E846-F715-F4AC2859D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116440"/>
              </p:ext>
            </p:extLst>
          </p:nvPr>
        </p:nvGraphicFramePr>
        <p:xfrm>
          <a:off x="703118" y="1667447"/>
          <a:ext cx="12191998" cy="810775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15303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528704">
                <a:tc>
                  <a:txBody>
                    <a:bodyPr/>
                    <a:lstStyle/>
                    <a:p>
                      <a:r>
                        <a:rPr lang="en-IN" dirty="0" err="1"/>
                        <a:t>SmartFix</a:t>
                      </a:r>
                      <a:r>
                        <a:rPr lang="en-IN" dirty="0"/>
                        <a:t>: Fixing Vulnerable Smart Contracts by Accelerating Generate-and-Verify Repair Using Statistical Models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ESEC/FSE 2023 (updated 2025)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Generate-and-Verify Repair with Statistical Prioritization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SmartBugs datasets, vulnerability-labeled contracts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Reentrancy, Integer Overflow, Access Control (patch generation)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Ethereum Smart Contracts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Mutation-Based Candidates, Statistical ML Prioritization, Formal Verification (</a:t>
                      </a:r>
                      <a:r>
                        <a:rPr lang="en-US" dirty="0" err="1">
                          <a:effectLst/>
                          <a:latin typeface=".AppleSystemUIFont"/>
                        </a:rPr>
                        <a:t>Certora</a:t>
                      </a:r>
                      <a:r>
                        <a:rPr lang="en-US" dirty="0">
                          <a:effectLst/>
                          <a:latin typeface=".AppleSystemUIFont"/>
                        </a:rPr>
                        <a:t>)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046132">
                <a:tc>
                  <a:txBody>
                    <a:bodyPr/>
                    <a:lstStyle/>
                    <a:p>
                      <a:r>
                        <a:rPr lang="en-IN" dirty="0"/>
                        <a:t>Smart Contract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EVM Smart Contracts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Search-Based (GA), Constraint-Based (SMT), Semantic Repair Approaches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Comparative Analysis, Scalability Discussion, Approach Taxonomy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Foundational repair taxonomy; establishes semantic repair as gold standard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Scalability challenges remain; practical deployment limited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EVM Smart Contracts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  <a:tr h="2257771">
                <a:tc>
                  <a:txBody>
                    <a:bodyPr/>
                    <a:lstStyle/>
                    <a:p>
                      <a:r>
                        <a:rPr lang="en-IN" dirty="0"/>
                        <a:t>Automated Repair of Smart Contract Vulnerabilities: A Systematic Literature Review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Electronics, MDPI 2024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APR Landscape Synthesis (2020–2024)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Multi-source vulnerability datasets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Bytecode vs. Source-Level Repairs, Vulnerability Taxonomy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Ethereum Smart Contracts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5 Repair Methodologies (Search, Constraint, Template, Learning, LLM)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700734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6 OF 6 · 5 PAPERS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 &amp; LLM-Based Code Security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3095625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patterns, structured reasoning, and the cybersecurity case studies that shape Sentinel's orchestration layer.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8727757"/>
            <a:ext cx="16383000" cy="511493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8727757"/>
            <a:ext cx="22860" cy="511493"/>
          </a:xfrm>
          <a:prstGeom prst="rect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5860" y="8842057"/>
            <a:ext cx="1647063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</a:t>
            </a:r>
            <a:r>
              <a:rPr lang="en-US" sz="1650" dirty="0">
                <a:solidFill>
                  <a:srgbClr val="1A1A1A"/>
                </a:solidFill>
                <a:highlight>
                  <a:srgbClr val="E7E2D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26 – 30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9635490"/>
            <a:ext cx="415191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· THEME 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531596" y="9635490"/>
            <a:ext cx="37540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71754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6 · MULTI-AGENT SYSTEMS &amp; LLM CODE SECURITY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295602" y="857250"/>
            <a:ext cx="21160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26–27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31239" y="9635490"/>
            <a:ext cx="37576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64EA9BAF-B35B-2C99-7847-CD646A120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04118"/>
              </p:ext>
            </p:extLst>
          </p:nvPr>
        </p:nvGraphicFramePr>
        <p:xfrm>
          <a:off x="12895116" y="1772225"/>
          <a:ext cx="4572000" cy="779018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2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763157">
                <a:tc>
                  <a:txBody>
                    <a:bodyPr/>
                    <a:lstStyle/>
                    <a:p>
                      <a:r>
                        <a:rPr lang="en-IN" dirty="0"/>
                        <a:t>Literature comparison, Accuracy, Precision, Recall,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Comprehensive taxonomy of vulnerabilities and detection techniques; covers ML/DL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unified benchmark dataset; scalability and real-world deployment challenges remain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Accuracy, Precision, Recall, F1-Score, Multi-label Classification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Demonstrates superiority of fine-tuned LLMs over traditional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Heavy dependence on high-quality </a:t>
                      </a:r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datasets; limited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Risk Analysis, Impact Assessment, Comparative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case studies and quantified risk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Focused only on lending protocols; limited automated detection mechanisms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7670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826A8016-9B96-1E9E-407D-007A1779F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92925"/>
              </p:ext>
            </p:extLst>
          </p:nvPr>
        </p:nvGraphicFramePr>
        <p:xfrm>
          <a:off x="703118" y="1772226"/>
          <a:ext cx="12191998" cy="779018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90896">
                <a:tc>
                  <a:txBody>
                    <a:bodyPr/>
                    <a:lstStyle/>
                    <a:p>
                      <a:r>
                        <a:rPr lang="en-IN" dirty="0"/>
                        <a:t>Vulnerability Detection in Smart Contracts: A Comprehensive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Ethereum/EVM datasets surveyed from prior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Access Control, Timestamp Dependency, Denial of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/ EVM-Compatible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Survey of Rule-Based, ML, DL, and Hybrid Detection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1568116">
                <a:tc>
                  <a:txBody>
                    <a:bodyPr/>
                    <a:lstStyle/>
                    <a:p>
                      <a:r>
                        <a:rPr lang="en-IN" dirty="0"/>
                        <a:t>Leveraging Large Language Models and Machine Learning for Smart Contract Vulnerability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AI-Based Smart Contract Security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Labeled</a:t>
                      </a:r>
                      <a:r>
                        <a:rPr lang="en-IN" dirty="0"/>
                        <a:t> vulnerability datasets containing Solidity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Integer Overflow, Timestamp Dependency, </a:t>
                      </a:r>
                      <a:r>
                        <a:rPr lang="en-IN" dirty="0" err="1"/>
                        <a:t>Delegatecall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DistilBERT</a:t>
                      </a:r>
                      <a:r>
                        <a:rPr lang="en-IN" dirty="0"/>
                        <a:t>-based LLMs, Classical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Smart Contract Vulnerability in DeFi: Assessing Security Risk in Blockchain-Based Lending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(Global Journal of Engineering and Technology Advances)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Security 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Real-world DeFi Platforms (</a:t>
                      </a:r>
                      <a:r>
                        <a:rPr lang="en-IN" dirty="0" err="1"/>
                        <a:t>Aave</a:t>
                      </a:r>
                      <a:r>
                        <a:rPr lang="en-IN" dirty="0"/>
                        <a:t>, Compound, </a:t>
                      </a:r>
                      <a:r>
                        <a:rPr lang="en-IN" dirty="0" err="1"/>
                        <a:t>MakerDAO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Oracle Manipulation, Flash Loan Attacks, Governance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Lending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Taxonomy and Security Assessment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34436"/>
                  </a:ext>
                </a:extLst>
              </a:tr>
            </a:tbl>
          </a:graphicData>
        </a:graphic>
      </p:graphicFrame>
      <p:sp>
        <p:nvSpPr>
          <p:cNvPr id="5" name="Shape 0">
            <a:extLst>
              <a:ext uri="{FF2B5EF4-FFF2-40B4-BE49-F238E27FC236}">
                <a16:creationId xmlns:a16="http://schemas.microsoft.com/office/drawing/2014/main" id="{1CDBD5F9-4DFB-2177-F56C-DB950DDD1C25}"/>
              </a:ext>
            </a:extLst>
          </p:cNvPr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6387D7B-1B04-B9C1-1CE8-8E5FB0538E47}"/>
              </a:ext>
            </a:extLst>
          </p:cNvPr>
          <p:cNvSpPr/>
          <p:nvPr/>
        </p:nvSpPr>
        <p:spPr>
          <a:xfrm>
            <a:off x="952500" y="857250"/>
            <a:ext cx="71754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6 · MULTI-AGENT SYSTEMS &amp; LLM CODE SECURITY</a:t>
            </a:r>
            <a:endParaRPr lang="en-US" sz="1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6F450FF-2F53-74BF-FB06-9FA99FFE50A5}"/>
              </a:ext>
            </a:extLst>
          </p:cNvPr>
          <p:cNvSpPr/>
          <p:nvPr/>
        </p:nvSpPr>
        <p:spPr>
          <a:xfrm>
            <a:off x="15295602" y="857250"/>
            <a:ext cx="21160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26–27 of 30</a:t>
            </a:r>
            <a:endParaRPr lang="en-US" sz="1500" dirty="0"/>
          </a:p>
        </p:txBody>
      </p:sp>
      <p:sp>
        <p:nvSpPr>
          <p:cNvPr id="8" name="Text 68">
            <a:extLst>
              <a:ext uri="{FF2B5EF4-FFF2-40B4-BE49-F238E27FC236}">
                <a16:creationId xmlns:a16="http://schemas.microsoft.com/office/drawing/2014/main" id="{032935F7-A6E4-686B-34BA-823AF7ED9B08}"/>
              </a:ext>
            </a:extLst>
          </p:cNvPr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9" name="Text 69">
            <a:extLst>
              <a:ext uri="{FF2B5EF4-FFF2-40B4-BE49-F238E27FC236}">
                <a16:creationId xmlns:a16="http://schemas.microsoft.com/office/drawing/2014/main" id="{2B4DA301-7852-EEC3-1E25-4AD43F4893D3}"/>
              </a:ext>
            </a:extLst>
          </p:cNvPr>
          <p:cNvSpPr/>
          <p:nvPr/>
        </p:nvSpPr>
        <p:spPr>
          <a:xfrm>
            <a:off x="17531239" y="9635490"/>
            <a:ext cx="37576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023352-5A9A-1DE9-A9CF-ED4110428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023385"/>
              </p:ext>
            </p:extLst>
          </p:nvPr>
        </p:nvGraphicFramePr>
        <p:xfrm>
          <a:off x="12895116" y="1772226"/>
          <a:ext cx="4572000" cy="771390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49655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239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Literature Synthesis, Agent Communication Mechanism Analysis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Establishes multi-agent advantages; defines CPDE/DPDE planning styles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Limited SC-specific multi-agent design patterns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2075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Performance Comparison vs. Single Agent, Reasoning Improvement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Empirical evidence of multi-agent superiority; debate/voting mechanisms effective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Limited domain-specific (SC) evaluation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  <a:tr h="1992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Security Task Performance, LLM Commercial Comparison (OpenAI, DeepSeek)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Practical cybersecurity multi-agent design; direct SC transferability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Limited evaluation on SC-specific threat models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28222676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7089569-8E42-F1C7-8B97-4B238218B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4982"/>
              </p:ext>
            </p:extLst>
          </p:nvPr>
        </p:nvGraphicFramePr>
        <p:xfrm>
          <a:off x="703118" y="1760854"/>
          <a:ext cx="12191998" cy="7725273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59344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400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  <a:latin typeface=".AppleSystemUIFont"/>
                        </a:rPr>
                        <a:t>LLM-Based Multi-Agent Systems for Software Engineering: Literature Review, Vision and the Road Ahead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.AppleSystemUIFont"/>
                        </a:rPr>
                        <a:t>arXiv</a:t>
                      </a:r>
                      <a:r>
                        <a:rPr lang="en-US" dirty="0">
                          <a:effectLst/>
                          <a:latin typeface=".AppleSystemUIFont"/>
                        </a:rPr>
                        <a:t> (2024–2025)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Multi-Agent SE System Design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Diverse SE task datasets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Multi-Stage Reasoning, Collective Decision-Making, Self-Refinement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Software Engineering (SC applicable)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Multi-Agent Orchestration (CPDE/DPDE), LangChain, AutoGen, DSPy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03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  <a:latin typeface=".AppleSystemUIFont"/>
                        </a:rPr>
                        <a:t>A Survey on LLM-based Multi-Agent System: Recent Advances and New Frontiers in Application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.AppleSystemUIFont"/>
                        </a:rPr>
                        <a:t>arXiv</a:t>
                      </a:r>
                      <a:r>
                        <a:rPr lang="en-US" dirty="0">
                          <a:effectLst/>
                          <a:latin typeface=".AppleSystemUIFont"/>
                        </a:rPr>
                        <a:t> (2025)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Multi-Agent Reasoning Advances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Generic multi-agent problem datasets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Multi-Stage Frameworks, Debate/Voting, Self-Refinement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General Purpose (SC transferable)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Collective Decision-Making, Synergistic Reasoning, Long-Trajectory Planning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  <a:tr h="203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  <a:latin typeface=".AppleSystemUIFont"/>
                        </a:rPr>
                        <a:t>Specification and Evaluation of Multi-Agent LLM Systems -- Prototype and Cybersecurity Applications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.AppleSystemUIFont"/>
                        </a:rPr>
                        <a:t>arXiv</a:t>
                      </a:r>
                      <a:r>
                        <a:rPr lang="en-US" dirty="0">
                          <a:effectLst/>
                          <a:latin typeface=".AppleSystemUIFont"/>
                        </a:rPr>
                        <a:t> (2025)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Multi-Agent Cybersecurity System Design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Cybersecurity task datasets (network, server security)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Multi-Agent Task Decomposition, Threat Detection, Response Coordination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Cybersecurity Domains (SC analogous)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Agent Specification Language, Multi-Agent Architecture Evaluation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700734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71754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6 · MULTI-AGENT SYSTEMS &amp; LLM CODE SECURITY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285601" y="857250"/>
            <a:ext cx="2126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28–29 of 30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527072" y="9635490"/>
            <a:ext cx="37992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25</a:t>
            </a:r>
            <a:endParaRPr lang="en-US" sz="1800" dirty="0"/>
          </a:p>
        </p:txBody>
      </p: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7C476942-8B94-B3CE-BC7D-344FA166E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092040"/>
              </p:ext>
            </p:extLst>
          </p:nvPr>
        </p:nvGraphicFramePr>
        <p:xfrm>
          <a:off x="12895115" y="1772225"/>
          <a:ext cx="5011884" cy="550418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70628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06502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r>
                        <a:rPr lang="en-IN" dirty="0"/>
                        <a:t>Cost-Benefit Analysis, Exploit Statistics, Case Study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Detailed attack-chain analysis; explains real exploit mechanisms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Primarily analytical; lacks automated </a:t>
                      </a:r>
                      <a:r>
                        <a:rPr lang="en-IN" dirty="0" err="1"/>
                        <a:t>defense</a:t>
                      </a:r>
                      <a:r>
                        <a:rPr lang="en-IN" dirty="0"/>
                        <a:t>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1190683">
                <a:tc>
                  <a:txBody>
                    <a:bodyPr/>
                    <a:lstStyle/>
                    <a:p>
                      <a:r>
                        <a:rPr lang="en-IN" dirty="0"/>
                        <a:t>Patch Correctness, Exploit Validation, Repair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Large-scale comparison of repair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Many generated patches are syntactically correct but semantically incorrect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9BB72CF-E06A-28E2-D083-6BFA14E82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35030"/>
              </p:ext>
            </p:extLst>
          </p:nvPr>
        </p:nvGraphicFramePr>
        <p:xfrm>
          <a:off x="703118" y="1772226"/>
          <a:ext cx="12191998" cy="550141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201605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42311">
                <a:tc>
                  <a:txBody>
                    <a:bodyPr/>
                    <a:lstStyle/>
                    <a:p>
                      <a:r>
                        <a:rPr lang="en-IN" dirty="0"/>
                        <a:t>Flash Loan Attacks: Comprehensive Technical Analysis of DeFi's Most Devastating Exploit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Exploit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 Flash Loan Exploit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Flash Loans, Oracle Manipulation, </a:t>
                      </a:r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Multi-Step Exploits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 Protocol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Technical Attack Lifecycle Analysis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013805">
                <a:tc>
                  <a:txBody>
                    <a:bodyPr/>
                    <a:lstStyle/>
                    <a:p>
                      <a:r>
                        <a:rPr lang="en-IN" dirty="0"/>
                        <a:t>Do Automated Fixes Truly Mitigate Smart Contract Exploits?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 (</a:t>
                      </a:r>
                      <a:r>
                        <a:rPr lang="en-IN" dirty="0" err="1"/>
                        <a:t>arXiv</a:t>
                      </a:r>
                      <a:r>
                        <a:rPr lang="en-IN" dirty="0"/>
                        <a:t> / IEEE TSE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Automated Program Repair (APR) for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Vulnerable Smart Contracts repaired by 19 APR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Reentrancy</a:t>
                      </a:r>
                      <a:r>
                        <a:rPr lang="en-IN" dirty="0"/>
                        <a:t>, Access Control Issues, Arithmetic 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Ethereum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APR Tools (</a:t>
                      </a:r>
                      <a:r>
                        <a:rPr lang="en-IN" dirty="0" err="1"/>
                        <a:t>SCRepair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SmartFix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DeFinery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sGuard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Aroc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  <p:sp>
        <p:nvSpPr>
          <p:cNvPr id="5" name="Shape 0">
            <a:extLst>
              <a:ext uri="{FF2B5EF4-FFF2-40B4-BE49-F238E27FC236}">
                <a16:creationId xmlns:a16="http://schemas.microsoft.com/office/drawing/2014/main" id="{38E679FD-711E-DD15-BCAE-F3DA3FA5B009}"/>
              </a:ext>
            </a:extLst>
          </p:cNvPr>
          <p:cNvSpPr/>
          <p:nvPr/>
        </p:nvSpPr>
        <p:spPr>
          <a:xfrm>
            <a:off x="952500" y="12477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8B20C3B-A792-6C5D-0E4D-2546A92A6E65}"/>
              </a:ext>
            </a:extLst>
          </p:cNvPr>
          <p:cNvSpPr/>
          <p:nvPr/>
        </p:nvSpPr>
        <p:spPr>
          <a:xfrm>
            <a:off x="952500" y="857250"/>
            <a:ext cx="71754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240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6 · MULTI-AGENT SYSTEMS &amp; LLM CODE SECURITY</a:t>
            </a:r>
            <a:endParaRPr lang="en-US" sz="1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019B4B2-5AC4-A7E3-B2BE-E903F2B64F80}"/>
              </a:ext>
            </a:extLst>
          </p:cNvPr>
          <p:cNvSpPr/>
          <p:nvPr/>
        </p:nvSpPr>
        <p:spPr>
          <a:xfrm>
            <a:off x="15285601" y="857250"/>
            <a:ext cx="2126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12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28–29 of 30</a:t>
            </a:r>
            <a:endParaRPr lang="en-US" sz="1500" dirty="0"/>
          </a:p>
        </p:txBody>
      </p:sp>
      <p:sp>
        <p:nvSpPr>
          <p:cNvPr id="8" name="Text 68">
            <a:extLst>
              <a:ext uri="{FF2B5EF4-FFF2-40B4-BE49-F238E27FC236}">
                <a16:creationId xmlns:a16="http://schemas.microsoft.com/office/drawing/2014/main" id="{2A7D3C59-88A7-8493-AE12-CABFD4B40171}"/>
              </a:ext>
            </a:extLst>
          </p:cNvPr>
          <p:cNvSpPr/>
          <p:nvPr/>
        </p:nvSpPr>
        <p:spPr>
          <a:xfrm>
            <a:off x="457200" y="9635490"/>
            <a:ext cx="2728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9" name="Text 69">
            <a:extLst>
              <a:ext uri="{FF2B5EF4-FFF2-40B4-BE49-F238E27FC236}">
                <a16:creationId xmlns:a16="http://schemas.microsoft.com/office/drawing/2014/main" id="{C09D50A3-12DB-EA3D-0CA8-EF3CE107E4DC}"/>
              </a:ext>
            </a:extLst>
          </p:cNvPr>
          <p:cNvSpPr/>
          <p:nvPr/>
        </p:nvSpPr>
        <p:spPr>
          <a:xfrm>
            <a:off x="17527072" y="9635490"/>
            <a:ext cx="37992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25</a:t>
            </a:r>
            <a:endParaRPr lang="en-US" sz="1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8FF725-2DEB-2FBC-AEB1-DFBA865B8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189103"/>
              </p:ext>
            </p:extLst>
          </p:nvPr>
        </p:nvGraphicFramePr>
        <p:xfrm>
          <a:off x="12895115" y="1772222"/>
          <a:ext cx="5011884" cy="6000083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70628">
                  <a:extLst>
                    <a:ext uri="{9D8B030D-6E8A-4147-A177-3AD203B41FA5}">
                      <a16:colId xmlns:a16="http://schemas.microsoft.com/office/drawing/2014/main" val="1788686660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1686037814"/>
                    </a:ext>
                  </a:extLst>
                </a:gridCol>
                <a:gridCol w="1670628">
                  <a:extLst>
                    <a:ext uri="{9D8B030D-6E8A-4147-A177-3AD203B41FA5}">
                      <a16:colId xmlns:a16="http://schemas.microsoft.com/office/drawing/2014/main" val="3535895990"/>
                    </a:ext>
                  </a:extLst>
                </a:gridCol>
              </a:tblGrid>
              <a:tr h="1297107">
                <a:tc>
                  <a:txBody>
                    <a:bodyPr/>
                    <a:lstStyle/>
                    <a:p>
                      <a:r>
                        <a:rPr lang="en-IN" dirty="0"/>
                        <a:t>Evaluation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56885"/>
                  </a:ext>
                </a:extLst>
              </a:tr>
              <a:tr h="2176282">
                <a:tc>
                  <a:txBody>
                    <a:bodyPr/>
                    <a:lstStyle/>
                    <a:p>
                      <a:r>
                        <a:rPr lang="en-IN" dirty="0"/>
                        <a:t>Cost-Benefit Analysis, Exploit Statistics, Case Study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Detailed attack-chain analysis; explains real exploit mechanisms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Primarily analytical; lacks automated </a:t>
                      </a:r>
                      <a:r>
                        <a:rPr lang="en-IN" dirty="0" err="1"/>
                        <a:t>defense</a:t>
                      </a:r>
                      <a:r>
                        <a:rPr lang="en-IN" dirty="0"/>
                        <a:t>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5689"/>
                  </a:ext>
                </a:extLst>
              </a:tr>
              <a:tr h="2526694">
                <a:tc>
                  <a:txBody>
                    <a:bodyPr/>
                    <a:lstStyle/>
                    <a:p>
                      <a:r>
                        <a:rPr lang="en-IN" dirty="0"/>
                        <a:t>Patch Correctness, Exploit Validation, Repair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Large-scale comparison of repair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Many generated patches are syntactically correct but semantically incorrect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448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996A88-FE45-4FB3-0F3C-B6BCF2089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36378"/>
              </p:ext>
            </p:extLst>
          </p:nvPr>
        </p:nvGraphicFramePr>
        <p:xfrm>
          <a:off x="703118" y="1772224"/>
          <a:ext cx="12191998" cy="6000083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42722894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704069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48134428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53852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8713140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164685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456368"/>
                    </a:ext>
                  </a:extLst>
                </a:gridCol>
              </a:tblGrid>
              <a:tr h="1322056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Domain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Attack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58534"/>
                  </a:ext>
                </a:extLst>
              </a:tr>
              <a:tr h="2242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  <a:latin typeface=".AppleSystemUIFont"/>
                        </a:rPr>
                        <a:t>Agentic Code Reasoning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.AppleSystemUIFont"/>
                        </a:rPr>
                        <a:t>arXiv</a:t>
                      </a:r>
                      <a:r>
                        <a:rPr lang="en-US" dirty="0">
                          <a:effectLst/>
                          <a:latin typeface=".AppleSystemUIFont"/>
                        </a:rPr>
                        <a:t>(2025–2026)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Structured LLM Code Reasoning via Templates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Code understanding benchmarks, fault localization datasets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Code QA, Fault Localization, Logic Reasoning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General Purpose Code (SC applicable)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Semi-Formal Reasoning Templates, Structured Evidence Requirements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886307343"/>
                  </a:ext>
                </a:extLst>
              </a:tr>
              <a:tr h="2435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  <a:latin typeface=".AppleSystemUIFont"/>
                        </a:rPr>
                        <a:t>LLM4Vuln: A Unified Evaluation Framework for Decoupling and Enhancing LLMs' Vulnerability Reasoning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.AppleSystemUIFont"/>
                        </a:rPr>
                        <a:t>arXiv</a:t>
                      </a:r>
                      <a:r>
                        <a:rPr lang="en-US" dirty="0">
                          <a:effectLst/>
                          <a:latin typeface=".AppleSystemUIFont"/>
                        </a:rPr>
                        <a:t>(2024)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LLM Vulnerability Reasoning Decoupling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UniVul Benchmark (3 languages: Solidity, Java, C/C++)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Logic Errors, Buffer Overflows, Integer Overflow (cross-language)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.AppleSystemUIFont"/>
                        </a:rPr>
                        <a:t>Ethereum/EVM Smart Contracts, Multi-Language</a:t>
                      </a:r>
                    </a:p>
                  </a:txBody>
                  <a:tcPr marL="47625" marR="47625" marT="9525" marB="95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.AppleSystemUIFont"/>
                        </a:rPr>
                        <a:t>6 LLMs (GPT-4, Phi-3, Llama-3, DeepSeek-R1, QwQ-32B) with Knowledge Retrieval, Context Supplementation</a:t>
                      </a:r>
                    </a:p>
                  </a:txBody>
                  <a:tcPr marL="47625" marR="47625" marT="9525" marB="9525"/>
                </a:tc>
                <a:extLst>
                  <a:ext uri="{0D108BD9-81ED-4DB2-BD59-A6C34878D82A}">
                    <a16:rowId xmlns:a16="http://schemas.microsoft.com/office/drawing/2014/main" val="3279122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· SYNTHESIS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gaps the literature leaves open — and how Sentinel closes them.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695700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855720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38300" y="3870960"/>
            <a:ext cx="30367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Single-tool blind spots.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38300" y="4272439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individual tool ≈27% accuracy → Scout aggregates complementary detectors.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3695700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0" y="3855720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10800" y="3870960"/>
            <a:ext cx="35052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flood on wild contracts.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10800" y="4272439"/>
            <a:ext cx="6863356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 FP → exploit-based gating in Validator; non-trigger = FP.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5047298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5207318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38300" y="5222557"/>
            <a:ext cx="30534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Cross-contract attacks.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38300" y="5624036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CPMM bugs invisible to single-contract fuzzers → Red Team plans multi-step chains.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0" y="5047298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25000" y="5207318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10800" y="5222557"/>
            <a:ext cx="325532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 that don't patch.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210800" y="5624036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patches often exploit-triggerable → Validator re-runs PoC after patching.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6398895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2500" y="6558915"/>
            <a:ext cx="533400" cy="756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38300" y="6574155"/>
            <a:ext cx="282451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alone are weak.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38300" y="6975634"/>
            <a:ext cx="7003281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0.5–0.63 BA, 76% misclass → LLMs orchestrate, tools execute.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0" y="6398895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25000" y="6558915"/>
            <a:ext cx="533400" cy="756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210800" y="6574155"/>
            <a:ext cx="338851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expire on first edit.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210800" y="6975634"/>
            <a:ext cx="6574919" cy="339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Continuous, automated scanning replaces snapshot audits.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7448788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2500" y="7608808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38300" y="7624048"/>
            <a:ext cx="354106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Zero-day pattern detection.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638300" y="8025527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reasoning + adversarial test gen finds novel instances of known semantics.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0" y="7448788"/>
            <a:ext cx="78105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25000" y="7608808"/>
            <a:ext cx="533400" cy="1058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21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10800" y="7624048"/>
            <a:ext cx="37546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validation non-trivial.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210800" y="8025527"/>
            <a:ext cx="7338441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V2E-style triggerability + profitability + regression = real validation.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7200" y="9635490"/>
            <a:ext cx="152447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7531835" y="9635490"/>
            <a:ext cx="3751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26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624971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7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902393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Design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5823704"/>
            <a:ext cx="2667000" cy="9525"/>
          </a:xfrm>
          <a:prstGeom prst="rect">
            <a:avLst/>
          </a:prstGeom>
          <a:solidFill>
            <a:srgbClr val="54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6385679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D8CF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agents — Scout, Red Team, Blue Team, Validator — orchestrated over established detectors and fuzzers, on a closed remediation loop.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9635490"/>
            <a:ext cx="231862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OPENER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30049" y="9635490"/>
            <a:ext cx="37695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A89E8B"/>
                </a:solidFill>
                <a:latin typeface="Inter" pitchFamily="34" charset="0"/>
                <a:ea typeface="Inter" pitchFamily="34" charset="-122"/>
              </a:rPr>
              <a:t>27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Closed-loop, agent-orchestrated.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09562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141345"/>
            <a:ext cx="16874490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kern="0" spc="176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4 · PRESENTATION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952500" y="3441859"/>
            <a:ext cx="5384721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1570" y="3582829"/>
            <a:ext cx="5177378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/ TUI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31570" y="3788093"/>
            <a:ext cx="517737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scan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1570" y="4134803"/>
            <a:ext cx="5177378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First-run experience; deterministic JSON + rich progress feed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451521" y="3441859"/>
            <a:ext cx="5384840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30591" y="3582829"/>
            <a:ext cx="517750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HOOK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630591" y="3788093"/>
            <a:ext cx="517750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30591" y="4134803"/>
            <a:ext cx="517750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comments per finding; severity-gated build status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1950660" y="3441859"/>
            <a:ext cx="5384840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129731" y="3582829"/>
            <a:ext cx="517750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DASHBOARD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2129731" y="3788093"/>
            <a:ext cx="517750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Tailwind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29731" y="4134803"/>
            <a:ext cx="517750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agent reasoning trace, accept/reject patch diff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952500" y="458152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0" y="4627245"/>
            <a:ext cx="16874490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kern="0" spc="176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3 · AGENT ORCHESTRATION (LANGGRAPH)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952500" y="4927759"/>
            <a:ext cx="4010025" cy="1254919"/>
          </a:xfrm>
          <a:prstGeom prst="rect">
            <a:avLst/>
          </a:prstGeom>
          <a:solidFill>
            <a:srgbClr val="1A1A1A"/>
          </a:solidFill>
          <a:ln w="762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31570" y="5068729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A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131570" y="5273993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31570" y="5620703"/>
            <a:ext cx="3761441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CFC4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Triage: aggregate Slither + Mythril + Medusa; rank, dedupe, score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5076825" y="4927759"/>
            <a:ext cx="4010025" cy="1254919"/>
          </a:xfrm>
          <a:prstGeom prst="rect">
            <a:avLst/>
          </a:prstGeom>
          <a:solidFill>
            <a:srgbClr val="1A1A1A"/>
          </a:solidFill>
          <a:ln w="762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55895" y="5068729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B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255895" y="5273993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5895" y="5620703"/>
            <a:ext cx="3761441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CFC4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PoC synthesis on Foundry/Anvil fork; trigger + profit checks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9201150" y="4927759"/>
            <a:ext cx="4010025" cy="1254919"/>
          </a:xfrm>
          <a:prstGeom prst="rect">
            <a:avLst/>
          </a:prstGeom>
          <a:solidFill>
            <a:srgbClr val="1A1A1A"/>
          </a:solidFill>
          <a:ln w="762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80220" y="5068729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380220" y="5273993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80220" y="5620703"/>
            <a:ext cx="3761441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CFC4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+ KG patch synthesis; ABI-preserving Solidity diffs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3325475" y="4927759"/>
            <a:ext cx="4010025" cy="1254919"/>
          </a:xfrm>
          <a:prstGeom prst="rect">
            <a:avLst/>
          </a:prstGeom>
          <a:solidFill>
            <a:srgbClr val="1A1A1A"/>
          </a:solidFill>
          <a:ln w="762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504545" y="5068729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D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3504545" y="5273993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504545" y="5620703"/>
            <a:ext cx="3761441" cy="45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CFC4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 exploits + regression; gas + invariants; pass/fail loop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952500" y="6277928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2500" y="6323648"/>
            <a:ext cx="16874490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kern="0" spc="176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 · DETECTION &amp; EXECUTION SUBSTRATE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952500" y="6624161"/>
            <a:ext cx="4010025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31570" y="6765131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131570" y="6970395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Slither + Solhint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31570" y="7317105"/>
            <a:ext cx="376144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+ dataflow; gas heuristics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5076825" y="6624161"/>
            <a:ext cx="4010025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55895" y="6765131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SYMBOLIC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5255895" y="6970395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Mythril + Z3 + eThor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55895" y="7317105"/>
            <a:ext cx="376144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feasibility; sound static where applicable</a:t>
            </a:r>
            <a:endParaRPr lang="en-US" sz="1275" dirty="0"/>
          </a:p>
        </p:txBody>
      </p:sp>
      <p:sp>
        <p:nvSpPr>
          <p:cNvPr id="46" name="Shape 44"/>
          <p:cNvSpPr/>
          <p:nvPr/>
        </p:nvSpPr>
        <p:spPr>
          <a:xfrm>
            <a:off x="9201150" y="6624161"/>
            <a:ext cx="4010025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380220" y="6765131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9380220" y="6970395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Medusa + Echidna + Foundry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380220" y="7317105"/>
            <a:ext cx="376144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Stateful + parallel + property-based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3325475" y="6624161"/>
            <a:ext cx="4010025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3504545" y="6765131"/>
            <a:ext cx="376144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3504545" y="6970395"/>
            <a:ext cx="37614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/ GPT-4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3504545" y="7317105"/>
            <a:ext cx="376144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structured reasoning templates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952500" y="7763828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52500" y="7809548"/>
            <a:ext cx="16874490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kern="0" spc="176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· STORAGE &amp; TELEMETRY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952500" y="8110061"/>
            <a:ext cx="5384721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31570" y="8251031"/>
            <a:ext cx="5177378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ARTEFACT STORE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131570" y="8456295"/>
            <a:ext cx="517737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S3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31570" y="8803005"/>
            <a:ext cx="5177378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Findings, PoCs, patches, agent traces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6451521" y="8110061"/>
            <a:ext cx="5384840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30591" y="8251031"/>
            <a:ext cx="517750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GRAPH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6630591" y="8456295"/>
            <a:ext cx="517750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+ CodeBERT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630591" y="8803005"/>
            <a:ext cx="517750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Contract-dependency &amp; vulnerability ontology</a:t>
            </a:r>
            <a:endParaRPr lang="en-US" sz="1275" dirty="0"/>
          </a:p>
        </p:txBody>
      </p:sp>
      <p:sp>
        <p:nvSpPr>
          <p:cNvPr id="64" name="Shape 62"/>
          <p:cNvSpPr/>
          <p:nvPr/>
        </p:nvSpPr>
        <p:spPr>
          <a:xfrm>
            <a:off x="11950660" y="8110061"/>
            <a:ext cx="5384840" cy="1044416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2129731" y="8251031"/>
            <a:ext cx="5177501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56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12129731" y="8456295"/>
            <a:ext cx="517750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+ Grafana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2129731" y="8803005"/>
            <a:ext cx="517750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Per-agent latency, token cost, retry depth</a:t>
            </a:r>
            <a:endParaRPr lang="en-US" sz="1275" dirty="0"/>
          </a:p>
        </p:txBody>
      </p:sp>
      <p:sp>
        <p:nvSpPr>
          <p:cNvPr id="68" name="Text 66"/>
          <p:cNvSpPr/>
          <p:nvPr/>
        </p:nvSpPr>
        <p:spPr>
          <a:xfrm>
            <a:off x="457200" y="9635490"/>
            <a:ext cx="492499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LEVEL DESIGN · ARCHITECTURE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7523619" y="9635490"/>
            <a:ext cx="3833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28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 SPECIFICATION OF SUB-SYSTEMS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agents, four contracts.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095625"/>
            <a:ext cx="2293620" cy="438150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3526155"/>
            <a:ext cx="229362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5850" y="3209925"/>
            <a:ext cx="2103120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kern="0" spc="16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3095625"/>
            <a:ext cx="3604260" cy="438150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46120" y="3526155"/>
            <a:ext cx="36042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79470" y="3209925"/>
            <a:ext cx="3445688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kern="0" spc="16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0380" y="3095625"/>
            <a:ext cx="5242560" cy="438150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0380" y="3526155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83730" y="3209925"/>
            <a:ext cx="5133137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kern="0" spc="16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 → OUTPUTS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092940" y="3095625"/>
            <a:ext cx="5242560" cy="438150"/>
          </a:xfrm>
          <a:prstGeom prst="rect">
            <a:avLst/>
          </a:prstGeom>
          <a:solidFill>
            <a:srgbClr val="E7E2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092940" y="3526155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226290" y="3209925"/>
            <a:ext cx="5133137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kern="0" spc="168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EXTERNAL INTERFACES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2500" y="3533775"/>
            <a:ext cx="229362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2500" y="4287203"/>
            <a:ext cx="229362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5850" y="3670935"/>
            <a:ext cx="2103120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Scout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3246120" y="3533775"/>
            <a:ext cx="36042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46120" y="4287203"/>
            <a:ext cx="36042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79470" y="3667125"/>
            <a:ext cx="3445688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detectors; rank, dedupe, score confidence; locate findings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0380" y="3533775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0380" y="4287203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83730" y="3667125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Solidity src + ABI / bytecode → ranked finding bundle (CWE, severity, line range)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2092940" y="3533775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092940" y="4287203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226290" y="3667125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Slither, Mythril, Medusa, Vandal RPC; LLM4Vuln-style prompt scheme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52500" y="4294822"/>
            <a:ext cx="229362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2500" y="5048250"/>
            <a:ext cx="229362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85850" y="4431983"/>
            <a:ext cx="2103120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Team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3246120" y="4294822"/>
            <a:ext cx="36042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46120" y="5048250"/>
            <a:ext cx="36042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79470" y="4428172"/>
            <a:ext cx="3445688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Synthesise executable PoC tx sequences; verify trigger + profitability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850380" y="4294822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0380" y="5048250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83730" y="4428172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+ chain fork → tx sequence + assert + value-extraction trace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2092940" y="4294822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2092940" y="5048250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226290" y="4428172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 Anvil, Forge cheatcodes, Echidna invariants, Z3 path solver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952500" y="5055870"/>
            <a:ext cx="229362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2500" y="5809297"/>
            <a:ext cx="229362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85850" y="5193030"/>
            <a:ext cx="2103120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Team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3246120" y="5055870"/>
            <a:ext cx="36042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46120" y="5809297"/>
            <a:ext cx="36042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79470" y="5189220"/>
            <a:ext cx="3445688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ABI-preserving, semantics-preserving Solidity patches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850380" y="5055870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50380" y="5809297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83730" y="5189220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+ KG context + source → unified diff + rationale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2092940" y="5055870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2092940" y="5809297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2226290" y="5189220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 KG, CodeBERT embeddings, Claude Opus, Solidity formatter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952500" y="5816918"/>
            <a:ext cx="229362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52500" y="6570345"/>
            <a:ext cx="229362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85850" y="5954078"/>
            <a:ext cx="2103120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Validator</a:t>
            </a:r>
            <a:endParaRPr lang="en-US" sz="1425" dirty="0"/>
          </a:p>
        </p:txBody>
      </p:sp>
      <p:sp>
        <p:nvSpPr>
          <p:cNvPr id="55" name="Shape 53"/>
          <p:cNvSpPr/>
          <p:nvPr/>
        </p:nvSpPr>
        <p:spPr>
          <a:xfrm>
            <a:off x="3246120" y="5816918"/>
            <a:ext cx="36042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246120" y="6570345"/>
            <a:ext cx="36042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379470" y="5950268"/>
            <a:ext cx="3445688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 PoC + regression suite; only accept patch if exploit fails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6850380" y="5816918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50380" y="6570345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83730" y="5950268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Patched contract + PoC corpus → pass/fail + risk score + gas delta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2092940" y="5816918"/>
            <a:ext cx="5242560" cy="761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2092940" y="6570345"/>
            <a:ext cx="524256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2226290" y="5950268"/>
            <a:ext cx="5133137" cy="52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Foundry, Medusa, SMTChecker, optional Certora properties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457200" y="9635490"/>
            <a:ext cx="193440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SUB-SYSTEMS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7535645" y="9635490"/>
            <a:ext cx="37135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</a:rPr>
              <a:t>29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surfaces — CLI, CI, web.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209925"/>
            <a:ext cx="5079921" cy="6029325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03020" y="3522345"/>
            <a:ext cx="451024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32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· SENTINEL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3020" y="4002405"/>
            <a:ext cx="451024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scan ./contracts </a:t>
            </a: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runs the full agent loop locally; emits JSON, SARIF and a human-readable report.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03020" y="5450205"/>
            <a:ext cx="451024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for budget caps (token, time), severity gate, model selection.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303020" y="6269355"/>
            <a:ext cx="927378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24940" y="6334125"/>
            <a:ext cx="75973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25648" y="6269355"/>
            <a:ext cx="1280160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47568" y="6334125"/>
            <a:ext cx="111252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1058" y="6269355"/>
            <a:ext cx="1232535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2978" y="6334125"/>
            <a:ext cx="106489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/ SARIF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03921" y="3209925"/>
            <a:ext cx="5080040" cy="6029325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54441" y="3522345"/>
            <a:ext cx="4510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32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54441" y="4002405"/>
            <a:ext cx="451037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</a:t>
            </a:r>
            <a:r>
              <a:rPr lang="en-US" sz="1875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.yml </a:t>
            </a: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on PR posts inline comments per finding plus Suggestions blocks for accepted patches.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954441" y="5116830"/>
            <a:ext cx="45103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severity gate; fails build only on Critical/High.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954441" y="5935980"/>
            <a:ext cx="784741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76361" y="6000750"/>
            <a:ext cx="61710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34432" y="5935980"/>
            <a:ext cx="1034415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56352" y="6000750"/>
            <a:ext cx="86677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Reviewdog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4096" y="5935980"/>
            <a:ext cx="675799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86016" y="6000750"/>
            <a:ext cx="50815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SARIF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255460" y="3209925"/>
            <a:ext cx="5080040" cy="6029325"/>
          </a:xfrm>
          <a:prstGeom prst="rect">
            <a:avLst/>
          </a:prstGeom>
          <a:solidFill>
            <a:srgbClr val="FFFFFF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605981" y="3522345"/>
            <a:ext cx="451037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32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DASHBOARD &amp; API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605981" y="4002405"/>
            <a:ext cx="45103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Three-pane review: source, evidence, patch diff with full agent trace.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605981" y="4783455"/>
            <a:ext cx="451037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</a:t>
            </a:r>
            <a:r>
              <a:rPr lang="en-US" sz="1875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/scan </a:t>
            </a: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875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/scan/:id </a:t>
            </a: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Live agent trace over </a:t>
            </a:r>
            <a:r>
              <a:rPr lang="en-US" sz="1875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 /trace </a:t>
            </a: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605981" y="5935980"/>
            <a:ext cx="652582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727901" y="6000750"/>
            <a:ext cx="48494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353812" y="5935980"/>
            <a:ext cx="789384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475732" y="6000750"/>
            <a:ext cx="62174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238446" y="5935980"/>
            <a:ext cx="919639" cy="335280"/>
          </a:xfrm>
          <a:prstGeom prst="rect">
            <a:avLst/>
          </a:prstGeom>
          <a:solidFill>
            <a:srgbClr val="ECEBE4"/>
          </a:solidFill>
          <a:ln w="7620">
            <a:solidFill>
              <a:srgbClr val="CF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360366" y="6000750"/>
            <a:ext cx="75199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 / WS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9635490"/>
            <a:ext cx="252055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DESIGN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7529453" y="9635490"/>
            <a:ext cx="37754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GANTT CHART FOR PHASE-1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Eight-week plan, three milestones.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650933"/>
            <a:ext cx="2286000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700" y="3286125"/>
            <a:ext cx="2209800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38500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14700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00625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6825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2750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38950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524875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01075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287000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63200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W5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49125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125325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W6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811250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887450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W7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5573375" y="3650933"/>
            <a:ext cx="1762125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649575" y="3286125"/>
            <a:ext cx="1685925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W8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52500" y="4523422"/>
            <a:ext cx="2286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2500" y="3837622"/>
            <a:ext cx="22288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survey &amp; gap synthesis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38500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26606" y="3780472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00625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88731" y="3780472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62750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0856" y="3780472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B085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524875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287000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049125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811250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5573375" y="417290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2500" y="5388293"/>
            <a:ext cx="2286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52500" y="4702493"/>
            <a:ext cx="22288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&amp; objective formalisation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238500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00625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88731" y="4645343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62750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50856" y="4645343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524875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287000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2049125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811250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5573375" y="50377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52500" y="6253163"/>
            <a:ext cx="2286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52500" y="5567363"/>
            <a:ext cx="22288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architecture design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3238500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00625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762750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850856" y="5510213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524875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612981" y="5510213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287000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375106" y="5510213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B085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2049125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3811250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5573375" y="590264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52500" y="7375207"/>
            <a:ext cx="2286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52500" y="6432232"/>
            <a:ext cx="22288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 spike (Slither, Mythril, Foundry, Medusa)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3238500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000625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762750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24875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12981" y="6375082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287000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375106" y="6375082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2049125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3811250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5573375" y="6767512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52500" y="8240078"/>
            <a:ext cx="2286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952500" y="7554278"/>
            <a:ext cx="22288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Scout + Red Team prototype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3238500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000625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762750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524875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287000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375106" y="7497128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2049125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2137231" y="7497128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3811250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3899356" y="7497128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B085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5573375" y="788955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952500" y="9362123"/>
            <a:ext cx="2286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52500" y="8419148"/>
            <a:ext cx="22288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setup (SmartBugs, V2E corpus)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3238500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5000625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762750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524875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0287000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2049125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2137231" y="8361998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3811250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3899356" y="8361998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5573375" y="8754428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52500" y="9969818"/>
            <a:ext cx="2286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52500" y="9541193"/>
            <a:ext cx="22288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&amp; demo prep</a:t>
            </a:r>
            <a:endParaRPr lang="en-US" sz="1500" dirty="0"/>
          </a:p>
        </p:txBody>
      </p:sp>
      <p:sp>
        <p:nvSpPr>
          <p:cNvPr id="99" name="Shape 97"/>
          <p:cNvSpPr/>
          <p:nvPr/>
        </p:nvSpPr>
        <p:spPr>
          <a:xfrm>
            <a:off x="3238500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000625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762750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524875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0287000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2049125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3811250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3899356" y="9484043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B085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5573375" y="9876473"/>
            <a:ext cx="1762125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5661481" y="9484043"/>
            <a:ext cx="1585913" cy="278130"/>
          </a:xfrm>
          <a:prstGeom prst="roundRect">
            <a:avLst>
              <a:gd name="adj" fmla="val 6849"/>
            </a:avLst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17541835" y="9635490"/>
            <a:ext cx="36516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multi-agent, closed-loop alternative to today's open-loop tooling.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771900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4168140"/>
            <a:ext cx="95250" cy="95250"/>
          </a:xfrm>
          <a:prstGeom prst="ellipse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76350" y="3912870"/>
            <a:ext cx="16536142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30-paper survey across threat landscape, static/symbolic, fuzzing, exploit gen, repair and multi-agent systems exposes 8 concrete gaps.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453961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2500" y="4935855"/>
            <a:ext cx="95250" cy="95250"/>
          </a:xfrm>
          <a:prstGeom prst="ellipse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6350" y="4680585"/>
            <a:ext cx="1654092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Four-agent architecture — Scout, Red Team, Blue Team, Validator — orchestrated over Slither, Mythril, Medusa, Foundry and a CodeBERT/Neo4j knowledge graph.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566737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2500" y="6063615"/>
            <a:ext cx="95250" cy="95250"/>
          </a:xfrm>
          <a:prstGeom prst="ellipse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76350" y="5808345"/>
            <a:ext cx="1432296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remediation loop: every patch is re-attacked with the original PoC and a regression suite before being merged.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6435090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2500" y="6831330"/>
            <a:ext cx="95250" cy="95250"/>
          </a:xfrm>
          <a:prstGeom prst="ellipse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6350" y="6576060"/>
            <a:ext cx="1461323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grounded in SmartBugs-Curated, SmartBugs-Wild, line-level annotations and a 2025 on-chain exploit corpus.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7837170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2500" y="7202805"/>
            <a:ext cx="1638300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2500" y="7599045"/>
            <a:ext cx="95250" cy="95250"/>
          </a:xfrm>
          <a:prstGeom prst="ellipse">
            <a:avLst/>
          </a:prstGeom>
          <a:solidFill>
            <a:srgbClr val="6B3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76350" y="7343775"/>
            <a:ext cx="1146692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Developer-first delivery — CLI, GitHub Action, web dashboard with full agent reasoning traces.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57200" y="9635490"/>
            <a:ext cx="179462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529810" y="9635490"/>
            <a:ext cx="3771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04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— 30 SURVEYED PAPERS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92605"/>
            <a:ext cx="160896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76428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209925"/>
            <a:ext cx="400050" cy="53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52550" y="3209925"/>
            <a:ext cx="7730871" cy="53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Detection in Smart Contracts: A Comprehensive Survey. arXiv:2407.07922, 2024.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52500" y="4134803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2500" y="3829050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52550" y="3829050"/>
            <a:ext cx="772719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Hossain et al. Leveraging LLMs &amp; ML for SC Vulnerability Detection. arXiv:2501.02229, 2025.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52500" y="4505325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4199572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52550" y="4199572"/>
            <a:ext cx="471884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Contract Vulnerability in DeFi. GJETA 22(3), 2025.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52500" y="4875848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4570095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52550" y="4570095"/>
            <a:ext cx="675519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 Loan Attacks: Comprehensive Technical Analysis. Clawditor/OWASP, 2025.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2500" y="524637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2500" y="4940618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[5]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52550" y="4940618"/>
            <a:ext cx="725725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Automated Fixes Truly Mitigate SC Exploits? arXiv:2501.04600 / IEEE TSE, 2025-26.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52500" y="5616893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2500" y="5311140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[6]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52550" y="5311140"/>
            <a:ext cx="4376821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Feist, Grieco, Groce. Slither. arXiv:1908.09878, 2019.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52500" y="5987415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2500" y="5681663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[7]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52550" y="5681663"/>
            <a:ext cx="4775751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MPro: Static + Symbolic Analysis. arXiv:1911.00570, 2019.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52500" y="6357938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2500" y="6052185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[8]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52550" y="6052185"/>
            <a:ext cx="556392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Semantic Framework for Ethereum SCs. arXiv:1802.08660, 2018.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52500" y="672846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2500" y="6422707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[9]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352550" y="6422707"/>
            <a:ext cx="4949769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Vandal: Scalable Security Analysis. arXiv:1809.03981, 2018.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52500" y="7098983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2500" y="6793230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[10]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352550" y="6793230"/>
            <a:ext cx="531865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eThor: Provably Sound Static Analysis. arXiv:2005.06227, 2020.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52500" y="7469505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52500" y="7163753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[11]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352550" y="7163753"/>
            <a:ext cx="330364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Grieco et al. Echidna. ACM ISSTA 2020.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52500" y="7840028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52500" y="7534275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[12]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352550" y="7534275"/>
            <a:ext cx="573144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Qiao, Paul et al. Human Side of SC Fuzzing. arXiv:2506.07389, 2025.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952500" y="821055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52500" y="7904798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[13]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352550" y="7904798"/>
            <a:ext cx="5595071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Liu, Qian, He et al. Rethinking SC Fuzzing. arXiv:2301.03943, 2023.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52500" y="8581072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52500" y="8275320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[14]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352550" y="8275320"/>
            <a:ext cx="32646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Trail of Bits. Unleashing Medusa. 2025.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952500" y="8951595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52500" y="8645843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[15]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352550" y="8645843"/>
            <a:ext cx="622357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Zhao, Li, Gai et al. Dynamic Taint Analysis for SC Testing. SmartCom 2022.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9429750" y="3515678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29750" y="3209925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[16]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829800" y="3209925"/>
            <a:ext cx="637392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Andersson et al. PoCo: Agentic PoC Exploit Gen. arXiv:2511.02780, 2025-26.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9429750" y="388620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429750" y="3580447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[17]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9829800" y="3580447"/>
            <a:ext cx="533116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to Pwn: Automated Exploit Gen. arXiv:2508.01371, 2025.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9429750" y="4256723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429750" y="3950970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[18]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9829800" y="3950970"/>
            <a:ext cx="452606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Transactions to Exploits. arXiv:2601.16681, 2026.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429750" y="4627245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429750" y="4321493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[19]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9829800" y="4321493"/>
            <a:ext cx="456616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V2E: Profit-Driven Exploit Gen. arXiv:2604.13611, 2025.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9429750" y="4997768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429750" y="4692015"/>
            <a:ext cx="424101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[20]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9853851" y="4692015"/>
            <a:ext cx="549328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Attack Synthesis for CPMMs. arXiv:2404.05297, 2024.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9429750" y="536829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429750" y="5062538"/>
            <a:ext cx="400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[21]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9829800" y="5062538"/>
            <a:ext cx="45386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SCPatcher: RAG + KG Repair. arXiv:2604.00687, 2025.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9429750" y="5738813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429750" y="5433060"/>
            <a:ext cx="41779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[22]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9847541" y="5433060"/>
            <a:ext cx="380963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Wang, Zhang et al. ContractTinker. ASE 2024.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9429750" y="6109335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429750" y="5803582"/>
            <a:ext cx="42005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[23]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9849802" y="5803582"/>
            <a:ext cx="4028539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SmartFix: Generate-and-Verify. ESEC/FSE 2023.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9429750" y="6479858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429750" y="6174105"/>
            <a:ext cx="42255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[24]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9852303" y="6174105"/>
            <a:ext cx="495344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Contract Repair (taxonomy). arXiv:1912.05823, 2020.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9429750" y="685038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9429750" y="6544628"/>
            <a:ext cx="41600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[25]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9845755" y="6544628"/>
            <a:ext cx="608180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Repair of SC Vulns: SLR. Electronics MDPI 13(19):3942, 2024.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9429750" y="7220903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429750" y="6915150"/>
            <a:ext cx="42064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[26]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9850398" y="6915150"/>
            <a:ext cx="6418929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LLM-Based Multi-Agent SE: Lit Review &amp; Vision. arXiv:2404.04834, 2024-25.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9429750" y="7591425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429750" y="7285673"/>
            <a:ext cx="40981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[27]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9839563" y="7285673"/>
            <a:ext cx="568238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on LLM-based Multi-Agent Systems. arXiv:2412.17481, 2025.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9429750" y="7961947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429750" y="7656195"/>
            <a:ext cx="42076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[28]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9850517" y="7656195"/>
            <a:ext cx="5971681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 &amp; Eval of Multi-Agent LLM Cybersecurity. arXiv:2506.10467, 2025.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9429750" y="8332470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429750" y="8026718"/>
            <a:ext cx="42064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[29]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9850398" y="8026718"/>
            <a:ext cx="449271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Code Reasoning. arXiv:2603.01896, 2025-26.</a:t>
            </a:r>
            <a:endParaRPr lang="en-US" sz="1350" dirty="0"/>
          </a:p>
        </p:txBody>
      </p:sp>
      <p:sp>
        <p:nvSpPr>
          <p:cNvPr id="91" name="Shape 89"/>
          <p:cNvSpPr/>
          <p:nvPr/>
        </p:nvSpPr>
        <p:spPr>
          <a:xfrm>
            <a:off x="9429750" y="8702993"/>
            <a:ext cx="7905750" cy="9525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429750" y="8397240"/>
            <a:ext cx="42636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B3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[30]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9856114" y="8397240"/>
            <a:ext cx="571390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LLM4Vuln: Decoupling LLM Vuln Reasoning. arXiv:2401.16185, 2024.</a:t>
            </a:r>
            <a:endParaRPr lang="en-US" sz="1350" dirty="0"/>
          </a:p>
        </p:txBody>
      </p:sp>
      <p:sp>
        <p:nvSpPr>
          <p:cNvPr id="94" name="Text 92"/>
          <p:cNvSpPr/>
          <p:nvPr/>
        </p:nvSpPr>
        <p:spPr>
          <a:xfrm>
            <a:off x="457200" y="9635490"/>
            <a:ext cx="172378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17529453" y="9635490"/>
            <a:ext cx="37754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72" dirty="0">
                <a:solidFill>
                  <a:srgbClr val="4B4B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237423"/>
            <a:ext cx="1687449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576" dirty="0">
                <a:solidFill>
                  <a:srgbClr val="B08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PHASE-1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2850833"/>
            <a:ext cx="14716125" cy="162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0" b="1" kern="0" spc="-18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952500" y="6028373"/>
            <a:ext cx="4953000" cy="9525"/>
          </a:xfrm>
          <a:prstGeom prst="rect">
            <a:avLst/>
          </a:prstGeom>
          <a:solidFill>
            <a:srgbClr val="54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6685598"/>
            <a:ext cx="117729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D8CF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Questions, critiques and suggestions warmly welcomed — especially on agent design, evaluation methodology, and threat-model coverage.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635490"/>
            <a:ext cx="553927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144" dirty="0">
                <a:solidFill>
                  <a:srgbClr val="A89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BMS COLLEGE OF ENGINEERING · CSE-ICB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20524" y="9635490"/>
            <a:ext cx="38647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kern="0" spc="72" dirty="0">
                <a:solidFill>
                  <a:srgbClr val="A89E8B"/>
                </a:solidFill>
                <a:latin typeface="Inter" pitchFamily="34" charset="0"/>
                <a:ea typeface="Inter" pitchFamily="34" charset="-122"/>
              </a:rPr>
              <a:t>34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5788</Words>
  <Application>Microsoft Macintosh PowerPoint</Application>
  <PresentationFormat>Custom</PresentationFormat>
  <Paragraphs>968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.AppleSystemUIFont</vt:lpstr>
      <vt:lpstr>Arial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Chinmay Hegde</cp:lastModifiedBy>
  <cp:revision>3</cp:revision>
  <dcterms:created xsi:type="dcterms:W3CDTF">2026-05-08T16:02:06Z</dcterms:created>
  <dcterms:modified xsi:type="dcterms:W3CDTF">2026-06-04T15:42:12Z</dcterms:modified>
</cp:coreProperties>
</file>